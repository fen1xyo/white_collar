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592" y="32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A5D4434-C2D8-40E0-A3C8-BE2A7278C9E4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87F023-15DF-41A0-A847-1C34D0EA65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A5D4434-C2D8-40E0-A3C8-BE2A7278C9E4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87F023-15DF-41A0-A847-1C34D0EA65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A5D4434-C2D8-40E0-A3C8-BE2A7278C9E4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87F023-15DF-41A0-A847-1C34D0EA65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A5D4434-C2D8-40E0-A3C8-BE2A7278C9E4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87F023-15DF-41A0-A847-1C34D0EA65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A5D4434-C2D8-40E0-A3C8-BE2A7278C9E4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87F023-15DF-41A0-A847-1C34D0EA65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A5D4434-C2D8-40E0-A3C8-BE2A7278C9E4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87F023-15DF-41A0-A847-1C34D0EA65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A5D4434-C2D8-40E0-A3C8-BE2A7278C9E4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87F023-15DF-41A0-A847-1C34D0EA65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A5D4434-C2D8-40E0-A3C8-BE2A7278C9E4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87F023-15DF-41A0-A847-1C34D0EA65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A5D4434-C2D8-40E0-A3C8-BE2A7278C9E4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87F023-15DF-41A0-A847-1C34D0EA65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A5D4434-C2D8-40E0-A3C8-BE2A7278C9E4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87F023-15DF-41A0-A847-1C34D0EA65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A5D4434-C2D8-40E0-A3C8-BE2A7278C9E4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87F023-15DF-41A0-A847-1C34D0EA65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Slide 2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Slide 3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Slide 7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Slide 9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Slide 10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A5D4434-C2D8-40E0-A3C8-BE2A7278C9E4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487F023-15DF-41A0-A847-1C34D0EA6559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4.png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9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18.png"/><Relationship Id="rId6" Type="http://schemas.openxmlformats.org/officeDocument/2006/relationships/image" Target="../media/image3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26.png"/><Relationship Id="rId5" Type="http://schemas.openxmlformats.org/officeDocument/2006/relationships/image" Target="../media/image41.jpg"/><Relationship Id="rId6" Type="http://schemas.openxmlformats.org/officeDocument/2006/relationships/image" Target="../media/image1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26.png"/><Relationship Id="rId5" Type="http://schemas.openxmlformats.org/officeDocument/2006/relationships/image" Target="../media/image42.jpg"/><Relationship Id="rId6" Type="http://schemas.openxmlformats.org/officeDocument/2006/relationships/image" Target="../media/image1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26.png"/><Relationship Id="rId5" Type="http://schemas.openxmlformats.org/officeDocument/2006/relationships/image" Target="../media/image43.jpg"/><Relationship Id="rId6" Type="http://schemas.openxmlformats.org/officeDocument/2006/relationships/image" Target="../media/image1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26.png"/><Relationship Id="rId5" Type="http://schemas.openxmlformats.org/officeDocument/2006/relationships/image" Target="../media/image44.jp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2000" cy="49555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>
            <a:alphaModFix amt="51000"/>
          </a:blip>
          <a:srcRect l="1" t="0" r="42921" b="46632"/>
          <a:stretch/>
        </p:blipFill>
        <p:spPr bwMode="auto">
          <a:xfrm>
            <a:off x="1" y="524598"/>
            <a:ext cx="12191999" cy="6362441"/>
          </a:xfrm>
          <a:prstGeom prst="rect">
            <a:avLst/>
          </a:prstGeom>
          <a:effectLst>
            <a:reflection blurRad="228600" stA="45000" endPos="65000" dist="50800" dir="5400000" sy="-100000" algn="bl" rotWithShape="0"/>
          </a:effec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 rot="637707">
            <a:off x="-1483782" y="2678620"/>
            <a:ext cx="5766741" cy="5488504"/>
          </a:xfrm>
          <a:prstGeom prst="rect">
            <a:avLst/>
          </a:prstGeom>
          <a:noFill/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823425" y="3237818"/>
            <a:ext cx="3724889" cy="32352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2839452" y="1145547"/>
            <a:ext cx="589833" cy="3737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5894702" y="2782489"/>
            <a:ext cx="6183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800">
                <a:solidFill>
                  <a:srgbClr val="00002E"/>
                </a:solidFill>
                <a:latin typeface="Hack"/>
                <a:ea typeface="Hack"/>
                <a:cs typeface="Hack"/>
              </a:rPr>
              <a:t>Интеллектуальная</a:t>
            </a:r>
            <a:r>
              <a:rPr lang="en-US" sz="1800">
                <a:solidFill>
                  <a:srgbClr val="00002E"/>
                </a:solidFill>
                <a:latin typeface="Hack"/>
                <a:ea typeface="Hack"/>
                <a:cs typeface="Hack"/>
              </a:rPr>
              <a:t> </a:t>
            </a:r>
            <a:r>
              <a:rPr lang="en-US" sz="1800">
                <a:solidFill>
                  <a:srgbClr val="00002E"/>
                </a:solidFill>
                <a:latin typeface="Hack"/>
                <a:ea typeface="Hack"/>
                <a:cs typeface="Hack"/>
              </a:rPr>
              <a:t>защита</a:t>
            </a:r>
            <a:r>
              <a:rPr lang="en-US" sz="1800">
                <a:solidFill>
                  <a:srgbClr val="00002E"/>
                </a:solidFill>
                <a:latin typeface="Hack"/>
                <a:ea typeface="Hack"/>
                <a:cs typeface="Hack"/>
              </a:rPr>
              <a:t> </a:t>
            </a:r>
            <a:r>
              <a:rPr lang="en-US" sz="1800">
                <a:solidFill>
                  <a:srgbClr val="00002E"/>
                </a:solidFill>
                <a:latin typeface="Hack"/>
                <a:ea typeface="Hack"/>
                <a:cs typeface="Hack"/>
              </a:rPr>
              <a:t>кода</a:t>
            </a:r>
            <a:r>
              <a:rPr lang="en-US" sz="1800">
                <a:solidFill>
                  <a:srgbClr val="00002E"/>
                </a:solidFill>
                <a:latin typeface="Hack"/>
                <a:ea typeface="Hack"/>
                <a:cs typeface="Hack"/>
              </a:rPr>
              <a:t> </a:t>
            </a:r>
            <a:r>
              <a:rPr lang="en-US" sz="1800">
                <a:solidFill>
                  <a:srgbClr val="00002E"/>
                </a:solidFill>
                <a:latin typeface="Hack"/>
                <a:ea typeface="Hack"/>
                <a:cs typeface="Hack"/>
              </a:rPr>
              <a:t>от</a:t>
            </a:r>
            <a:r>
              <a:rPr lang="en-US" sz="1800">
                <a:solidFill>
                  <a:srgbClr val="00002E"/>
                </a:solidFill>
                <a:latin typeface="Hack"/>
                <a:ea typeface="Hack"/>
                <a:cs typeface="Hack"/>
              </a:rPr>
              <a:t> </a:t>
            </a:r>
            <a:r>
              <a:rPr lang="en-US" sz="1800">
                <a:solidFill>
                  <a:srgbClr val="00002E"/>
                </a:solidFill>
                <a:latin typeface="Hack"/>
                <a:ea typeface="Hack"/>
                <a:cs typeface="Hack"/>
              </a:rPr>
              <a:t>утечки</a:t>
            </a:r>
            <a:r>
              <a:rPr lang="en-US" sz="1800">
                <a:solidFill>
                  <a:srgbClr val="00002E"/>
                </a:solidFill>
                <a:latin typeface="Hack"/>
                <a:ea typeface="Hack"/>
                <a:cs typeface="Hack"/>
              </a:rPr>
              <a:t> </a:t>
            </a:r>
            <a:r>
              <a:rPr lang="en-US" sz="1800">
                <a:solidFill>
                  <a:srgbClr val="00002E"/>
                </a:solidFill>
                <a:latin typeface="Hack"/>
                <a:ea typeface="Hack"/>
                <a:cs typeface="Hack"/>
              </a:rPr>
              <a:t>секретов</a:t>
            </a:r>
            <a:r>
              <a:rPr lang="en-US" sz="1800">
                <a:solidFill>
                  <a:srgbClr val="00002E"/>
                </a:solidFill>
                <a:latin typeface="Hack"/>
                <a:ea typeface="Hack"/>
                <a:cs typeface="Hack"/>
              </a:rPr>
              <a:t> и API-</a:t>
            </a:r>
            <a:r>
              <a:rPr lang="en-US" sz="1800">
                <a:solidFill>
                  <a:srgbClr val="00002E"/>
                </a:solidFill>
                <a:latin typeface="Hack"/>
                <a:ea typeface="Hack"/>
                <a:cs typeface="Hack"/>
              </a:rPr>
              <a:t>ключей</a:t>
            </a:r>
            <a:endParaRPr lang="en-US" sz="1800">
              <a:solidFill>
                <a:srgbClr val="00002E"/>
              </a:solidFill>
              <a:latin typeface="Hack"/>
              <a:ea typeface="Hack"/>
              <a:cs typeface="Hack"/>
            </a:endParaRPr>
          </a:p>
          <a:p>
            <a:pPr>
              <a:defRPr/>
            </a:pPr>
            <a:endParaRPr lang="ru-RU">
              <a:solidFill>
                <a:srgbClr val="00002E"/>
              </a:solidFill>
            </a:endParaRP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5599785" y="2799855"/>
            <a:ext cx="589833" cy="37378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 bwMode="auto">
          <a:xfrm>
            <a:off x="5894702" y="2799855"/>
            <a:ext cx="6183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Интеллектуальная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 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защита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 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кода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 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от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 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утечки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 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секретов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 и API-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ключей</a:t>
            </a:r>
            <a:endParaRPr lang="en-US">
              <a:latin typeface="Hack"/>
              <a:ea typeface="Hack"/>
              <a:cs typeface="Hack"/>
            </a:endParaRPr>
          </a:p>
          <a:p>
            <a:pPr>
              <a:defRPr/>
            </a:pPr>
            <a:endParaRPr lang="ru-RU"/>
          </a:p>
        </p:txBody>
      </p:sp>
      <p:sp>
        <p:nvSpPr>
          <p:cNvPr id="16" name="TextBox 15"/>
          <p:cNvSpPr txBox="1"/>
          <p:nvPr/>
        </p:nvSpPr>
        <p:spPr bwMode="auto">
          <a:xfrm>
            <a:off x="2184215" y="1167050"/>
            <a:ext cx="5992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>
                <a:solidFill>
                  <a:srgbClr val="00002E"/>
                </a:solidFill>
                <a:latin typeface="Hack"/>
                <a:ea typeface="Hack"/>
                <a:cs typeface="Hack"/>
              </a:rPr>
              <a:t>Secret Scanner</a:t>
            </a:r>
            <a:endParaRPr/>
          </a:p>
          <a:p>
            <a:pPr>
              <a:defRPr/>
            </a:pPr>
            <a:endParaRPr lang="ru-RU" sz="3600">
              <a:solidFill>
                <a:srgbClr val="00002E"/>
              </a:solidFill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4358639" y="1362157"/>
            <a:ext cx="589833" cy="373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 bwMode="auto">
          <a:xfrm>
            <a:off x="2226560" y="1188638"/>
            <a:ext cx="5992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>
                <a:solidFill>
                  <a:srgbClr val="FFFFFF"/>
                </a:solidFill>
                <a:latin typeface="Hack"/>
                <a:ea typeface="Hack"/>
                <a:cs typeface="Hack"/>
              </a:rPr>
              <a:t>Secret Scanner</a:t>
            </a:r>
            <a:endParaRPr lang="en-US" sz="3600">
              <a:latin typeface="Hack"/>
              <a:ea typeface="Hack"/>
              <a:cs typeface="Hack"/>
            </a:endParaRPr>
          </a:p>
          <a:p>
            <a:pPr>
              <a:defRPr/>
            </a:pPr>
            <a:endParaRPr lang="ru-RU" sz="360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618634" y="1066027"/>
            <a:ext cx="1201744" cy="831735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1">
            <a:off x="7618634" y="1069326"/>
            <a:ext cx="1014150" cy="7754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 bwMode="auto">
          <a:xfrm>
            <a:off x="7588309" y="1198439"/>
            <a:ext cx="2488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bg1"/>
                </a:solidFill>
                <a:latin typeface="Hack"/>
                <a:ea typeface="Hack"/>
                <a:cs typeface="Hack"/>
              </a:rPr>
              <a:t>Wh</a:t>
            </a:r>
            <a:r>
              <a:rPr lang="en-US" b="1">
                <a:latin typeface="Hack"/>
                <a:ea typeface="Hack"/>
                <a:cs typeface="Hack"/>
              </a:rPr>
              <a:t>i</a:t>
            </a:r>
            <a:r>
              <a:rPr lang="en-US" b="1">
                <a:latin typeface="Hack"/>
                <a:ea typeface="Hack"/>
                <a:cs typeface="Hack"/>
              </a:rPr>
              <a:t> </a:t>
            </a:r>
            <a:r>
              <a:rPr lang="en-US" b="1">
                <a:latin typeface="Hack"/>
                <a:ea typeface="Hack"/>
                <a:cs typeface="Hack"/>
              </a:rPr>
              <a:t>t</a:t>
            </a:r>
            <a:r>
              <a:rPr lang="en-US" b="1">
                <a:solidFill>
                  <a:schemeClr val="bg1"/>
                </a:solidFill>
                <a:latin typeface="Hack"/>
                <a:ea typeface="Hack"/>
                <a:cs typeface="Hack"/>
              </a:rPr>
              <a:t>e</a:t>
            </a:r>
            <a:r>
              <a:rPr lang="en-US" b="1">
                <a:solidFill>
                  <a:schemeClr val="bg1"/>
                </a:solidFill>
                <a:latin typeface="Hack"/>
                <a:ea typeface="Hack"/>
                <a:cs typeface="Hack"/>
              </a:rPr>
              <a:t> </a:t>
            </a:r>
            <a:endParaRPr/>
          </a:p>
          <a:p>
            <a:pPr>
              <a:defRPr/>
            </a:pPr>
            <a:r>
              <a:rPr lang="en-US" b="1">
                <a:solidFill>
                  <a:schemeClr val="bg1"/>
                </a:solidFill>
                <a:latin typeface="Hack"/>
                <a:ea typeface="Hack"/>
                <a:cs typeface="Hack"/>
              </a:rPr>
              <a:t>col</a:t>
            </a:r>
            <a:r>
              <a:rPr lang="en-US" b="1">
                <a:latin typeface="Hack"/>
                <a:ea typeface="Hack"/>
                <a:cs typeface="Hack"/>
              </a:rPr>
              <a:t>l</a:t>
            </a:r>
            <a:r>
              <a:rPr lang="en-US" b="1">
                <a:solidFill>
                  <a:schemeClr val="bg1"/>
                </a:solidFill>
                <a:latin typeface="Hack"/>
                <a:ea typeface="Hack"/>
                <a:cs typeface="Hack"/>
              </a:rPr>
              <a:t>ars</a:t>
            </a:r>
            <a:endParaRPr lang="ru-RU" b="1">
              <a:solidFill>
                <a:schemeClr val="bg1"/>
              </a:solidFill>
              <a:latin typeface="Hack"/>
              <a:ea typeface="Hack"/>
              <a:cs typeface="Hack"/>
            </a:endParaRPr>
          </a:p>
        </p:txBody>
      </p:sp>
      <p:sp>
        <p:nvSpPr>
          <p:cNvPr id="25" name="TextBox 24"/>
          <p:cNvSpPr txBox="1"/>
          <p:nvPr/>
        </p:nvSpPr>
        <p:spPr bwMode="auto">
          <a:xfrm>
            <a:off x="7611263" y="1717784"/>
            <a:ext cx="23799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900" b="1" i="1">
                <a:solidFill>
                  <a:schemeClr val="bg1"/>
                </a:solidFill>
                <a:latin typeface="Hack"/>
                <a:ea typeface="Hack"/>
                <a:cs typeface="Hack"/>
              </a:rPr>
              <a:t>team</a:t>
            </a:r>
            <a:endParaRPr lang="ru-RU" sz="900" b="1" i="1">
              <a:solidFill>
                <a:schemeClr val="bg1"/>
              </a:solidFill>
              <a:latin typeface="Hack"/>
              <a:ea typeface="Hack"/>
              <a:cs typeface="Hack"/>
            </a:endParaRP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8"/>
          <a:stretch/>
        </p:blipFill>
        <p:spPr bwMode="auto">
          <a:xfrm>
            <a:off x="9728200" y="5595550"/>
            <a:ext cx="2463799" cy="62429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6" dur="1625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6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289931" y="2111274"/>
            <a:ext cx="12192000" cy="3089275"/>
          </a:xfrm>
          <a:prstGeom prst="rect">
            <a:avLst/>
          </a:prstGeom>
          <a:noFill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4235" y="-314031"/>
            <a:ext cx="10010775" cy="6848475"/>
          </a:xfrm>
          <a:prstGeom prst="rect">
            <a:avLst/>
          </a:prstGeom>
          <a:noFill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0" y="1884363"/>
            <a:ext cx="12192000" cy="3089275"/>
          </a:xfrm>
          <a:prstGeom prst="rect">
            <a:avLst/>
          </a:prstGeom>
          <a:noFill/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069877" y="549737"/>
            <a:ext cx="4489747" cy="4746164"/>
          </a:xfrm>
          <a:prstGeom prst="rect">
            <a:avLst/>
          </a:prstGeom>
        </p:spPr>
      </p:pic>
      <p:sp>
        <p:nvSpPr>
          <p:cNvPr id="2" name="Text 1"/>
          <p:cNvSpPr/>
          <p:nvPr/>
        </p:nvSpPr>
        <p:spPr bwMode="auto">
          <a:xfrm>
            <a:off x="7590288" y="1263811"/>
            <a:ext cx="2816225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  <a:defRPr/>
            </a:pPr>
            <a:r>
              <a:rPr lang="en-US" sz="3200">
                <a:solidFill>
                  <a:srgbClr val="FFFFFF"/>
                </a:solidFill>
                <a:latin typeface="Hack"/>
                <a:ea typeface="Hack"/>
                <a:cs typeface="Hack"/>
              </a:rPr>
              <a:t>Технологии</a:t>
            </a:r>
            <a:endParaRPr lang="en-US" sz="2200">
              <a:latin typeface="Hack"/>
              <a:ea typeface="Hack"/>
              <a:cs typeface="Hack"/>
            </a:endParaRPr>
          </a:p>
        </p:txBody>
      </p:sp>
      <p:sp>
        <p:nvSpPr>
          <p:cNvPr id="4" name="Text 3"/>
          <p:cNvSpPr/>
          <p:nvPr/>
        </p:nvSpPr>
        <p:spPr bwMode="auto">
          <a:xfrm>
            <a:off x="7452601" y="3206233"/>
            <a:ext cx="2816225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  <a:defRPr/>
            </a:pPr>
            <a:r>
              <a:rPr lang="en-US" sz="3200">
                <a:solidFill>
                  <a:srgbClr val="FFFFFF"/>
                </a:solidFill>
                <a:latin typeface="Hack"/>
                <a:ea typeface="Hack"/>
                <a:cs typeface="Hack"/>
              </a:rPr>
              <a:t>Функциональность</a:t>
            </a:r>
            <a:endParaRPr lang="en-US" sz="2200">
              <a:latin typeface="Hack"/>
              <a:ea typeface="Hack"/>
              <a:cs typeface="Hack"/>
            </a:endParaRPr>
          </a:p>
        </p:txBody>
      </p:sp>
      <p:sp>
        <p:nvSpPr>
          <p:cNvPr id="5" name="Text 4"/>
          <p:cNvSpPr/>
          <p:nvPr/>
        </p:nvSpPr>
        <p:spPr bwMode="auto">
          <a:xfrm>
            <a:off x="7647275" y="3747793"/>
            <a:ext cx="3462238" cy="1097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500"/>
              </a:lnSpc>
              <a:buSzPct val="100000"/>
              <a:buChar char="•"/>
              <a:defRPr/>
            </a:pPr>
            <a:r>
              <a:rPr lang="en-US" sz="1550">
                <a:solidFill>
                  <a:srgbClr val="FFFFFF"/>
                </a:solidFill>
                <a:latin typeface="Hack"/>
                <a:ea typeface="Hack"/>
                <a:cs typeface="Hack"/>
              </a:rPr>
              <a:t>Обработка git репозитория</a:t>
            </a:r>
            <a:endParaRPr lang="en-US" sz="1550">
              <a:latin typeface="Hack"/>
              <a:ea typeface="Hack"/>
              <a:cs typeface="Hack"/>
            </a:endParaRPr>
          </a:p>
          <a:p>
            <a:pPr marL="285739" indent="-285739">
              <a:lnSpc>
                <a:spcPts val="2500"/>
              </a:lnSpc>
              <a:buSzPct val="100000"/>
              <a:buChar char="•"/>
              <a:defRPr/>
            </a:pPr>
            <a:r>
              <a:rPr lang="en-US" sz="1550">
                <a:solidFill>
                  <a:srgbClr val="FFFFFF"/>
                </a:solidFill>
                <a:latin typeface="Hack"/>
                <a:ea typeface="Hack"/>
                <a:cs typeface="Hack"/>
              </a:rPr>
              <a:t>Подсветка по критичности</a:t>
            </a:r>
            <a:endParaRPr lang="en-US" sz="1550">
              <a:latin typeface="Hack"/>
              <a:ea typeface="Hack"/>
              <a:cs typeface="Hack"/>
            </a:endParaRPr>
          </a:p>
          <a:p>
            <a:pPr marL="285739" indent="-285739">
              <a:lnSpc>
                <a:spcPts val="2500"/>
              </a:lnSpc>
              <a:buSzPct val="100000"/>
              <a:buChar char="•"/>
              <a:defRPr/>
            </a:pPr>
            <a:r>
              <a:rPr lang="en-US" sz="1550">
                <a:solidFill>
                  <a:srgbClr val="FFFFFF"/>
                </a:solidFill>
                <a:latin typeface="Hack"/>
                <a:ea typeface="Hack"/>
                <a:cs typeface="Hack"/>
              </a:rPr>
              <a:t>Детальные отчеты</a:t>
            </a:r>
            <a:endParaRPr lang="en-US" sz="1550">
              <a:latin typeface="Hack"/>
              <a:ea typeface="Hack"/>
              <a:cs typeface="Hack"/>
            </a:endParaRPr>
          </a:p>
        </p:txBody>
      </p:sp>
      <p:sp>
        <p:nvSpPr>
          <p:cNvPr id="3" name="Text 2"/>
          <p:cNvSpPr/>
          <p:nvPr/>
        </p:nvSpPr>
        <p:spPr bwMode="auto">
          <a:xfrm>
            <a:off x="7666632" y="1781284"/>
            <a:ext cx="3462238" cy="1097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500"/>
              </a:lnSpc>
              <a:buSzPct val="100000"/>
              <a:buChar char="•"/>
              <a:defRPr/>
            </a:pPr>
            <a:r>
              <a:rPr lang="en-US" sz="1550">
                <a:solidFill>
                  <a:srgbClr val="FFFFFF"/>
                </a:solidFill>
                <a:latin typeface="Hack"/>
                <a:ea typeface="Hack"/>
                <a:cs typeface="Hack"/>
              </a:rPr>
              <a:t>Фреймворк Flask</a:t>
            </a:r>
            <a:endParaRPr lang="en-US" sz="1550">
              <a:latin typeface="Hack"/>
              <a:ea typeface="Hack"/>
              <a:cs typeface="Hack"/>
            </a:endParaRPr>
          </a:p>
          <a:p>
            <a:pPr marL="285739" indent="-285739">
              <a:lnSpc>
                <a:spcPts val="2500"/>
              </a:lnSpc>
              <a:buSzPct val="100000"/>
              <a:buChar char="•"/>
              <a:defRPr/>
            </a:pPr>
            <a:r>
              <a:rPr lang="en-US" sz="1550">
                <a:solidFill>
                  <a:srgbClr val="FFFFFF"/>
                </a:solidFill>
                <a:latin typeface="Hack"/>
                <a:ea typeface="Hack"/>
                <a:cs typeface="Hack"/>
              </a:rPr>
              <a:t>HTML/CSS с Jinja2</a:t>
            </a:r>
            <a:endParaRPr lang="en-US" sz="1550">
              <a:latin typeface="Hack"/>
              <a:ea typeface="Hack"/>
              <a:cs typeface="Hack"/>
            </a:endParaRPr>
          </a:p>
          <a:p>
            <a:pPr marL="285739" indent="-285739">
              <a:lnSpc>
                <a:spcPts val="2500"/>
              </a:lnSpc>
              <a:buSzPct val="100000"/>
              <a:buChar char="•"/>
              <a:defRPr/>
            </a:pPr>
            <a:r>
              <a:rPr lang="en-US" sz="1550">
                <a:solidFill>
                  <a:srgbClr val="FFFFFF"/>
                </a:solidFill>
                <a:latin typeface="Hack"/>
                <a:ea typeface="Hack"/>
                <a:cs typeface="Hack"/>
              </a:rPr>
              <a:t>Интерактивный дашборд</a:t>
            </a:r>
            <a:endParaRPr lang="en-US" sz="1550">
              <a:latin typeface="Hack"/>
              <a:ea typeface="Hack"/>
              <a:cs typeface="Hack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0"/>
              <a:t> 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rcRect l="980" t="0" r="980" b="0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/>
          <p:cNvSpPr/>
          <p:nvPr/>
        </p:nvSpPr>
        <p:spPr bwMode="auto">
          <a:xfrm>
            <a:off x="7593438" y="2708250"/>
            <a:ext cx="1106062" cy="72074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Прямоугольник: багетная рамка 5"/>
          <p:cNvSpPr/>
          <p:nvPr/>
        </p:nvSpPr>
        <p:spPr bwMode="auto">
          <a:xfrm>
            <a:off x="33337" y="0"/>
            <a:ext cx="12125325" cy="6686550"/>
          </a:xfrm>
          <a:prstGeom prst="bevel">
            <a:avLst>
              <a:gd name="adj" fmla="val 26318"/>
            </a:avLst>
          </a:prstGeom>
          <a:solidFill>
            <a:schemeClr val="tx1">
              <a:lumMod val="85000"/>
              <a:lumOff val="15000"/>
              <a:alpha val="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5130466" y="1023644"/>
            <a:ext cx="553491" cy="5786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" name="TextBox 7"/>
          <p:cNvSpPr txBox="1"/>
          <p:nvPr/>
        </p:nvSpPr>
        <p:spPr bwMode="auto">
          <a:xfrm>
            <a:off x="5271822" y="1195094"/>
            <a:ext cx="683658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/>
              <a:buChar char="•"/>
              <a:defRPr/>
            </a:pPr>
            <a:r>
              <a:rPr lang="ru-RU" sz="2400" b="1" i="0">
                <a:solidFill>
                  <a:schemeClr val="bg1"/>
                </a:solidFill>
                <a:latin typeface="Hack"/>
                <a:ea typeface="Hack"/>
                <a:cs typeface="Hack"/>
              </a:rPr>
              <a:t>Хардкодинг</a:t>
            </a:r>
            <a:r>
              <a:rPr lang="ru-RU" sz="2400" b="1" i="0">
                <a:solidFill>
                  <a:schemeClr val="bg1"/>
                </a:solidFill>
                <a:latin typeface="Hack"/>
                <a:ea typeface="Hack"/>
                <a:cs typeface="Hack"/>
              </a:rPr>
              <a:t> ключей в исходном коде</a:t>
            </a:r>
            <a:r>
              <a:rPr lang="ru-RU" sz="2400" b="0" i="0">
                <a:solidFill>
                  <a:schemeClr val="bg1"/>
                </a:solidFill>
                <a:latin typeface="Hack"/>
                <a:ea typeface="Hack"/>
                <a:cs typeface="Hack"/>
              </a:rPr>
              <a:t>. Разработчики часто внедряют ключи Особенно критично, когда ключи остаются в конфигурационных файлах, в закомментированных блоках кода</a:t>
            </a:r>
            <a:r>
              <a:rPr lang="en-US" sz="2400" b="0" i="0">
                <a:solidFill>
                  <a:schemeClr val="bg1"/>
                </a:solidFill>
                <a:latin typeface="Hack"/>
                <a:ea typeface="Hack"/>
                <a:cs typeface="Hack"/>
              </a:rPr>
              <a:t>.</a:t>
            </a:r>
            <a:br>
              <a:rPr lang="en-US" sz="2400" b="0" i="0">
                <a:solidFill>
                  <a:schemeClr val="bg1"/>
                </a:solidFill>
                <a:latin typeface="Hack"/>
                <a:ea typeface="Hack"/>
                <a:cs typeface="Hack"/>
              </a:rPr>
            </a:br>
            <a:endParaRPr lang="ru-RU" sz="2400" b="0" i="0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 algn="l">
              <a:buFont typeface="Arial"/>
              <a:buChar char="•"/>
              <a:defRPr/>
            </a:pPr>
            <a:endParaRPr lang="ru-RU" sz="2400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 algn="l">
              <a:buFont typeface="Arial"/>
              <a:buChar char="•"/>
              <a:defRPr/>
            </a:pPr>
            <a:r>
              <a:rPr lang="ru-RU" sz="2400" b="1" i="0">
                <a:solidFill>
                  <a:schemeClr val="bg1"/>
                </a:solidFill>
                <a:latin typeface="Hack"/>
                <a:ea typeface="Hack"/>
                <a:cs typeface="Hack"/>
              </a:rPr>
              <a:t>Случайные коммиты в публичные репозитории</a:t>
            </a:r>
            <a:r>
              <a:rPr lang="ru-RU" sz="2400" b="0" i="0">
                <a:solidFill>
                  <a:schemeClr val="bg1"/>
                </a:solidFill>
                <a:latin typeface="Hack"/>
                <a:ea typeface="Hack"/>
                <a:cs typeface="Hack"/>
              </a:rPr>
              <a:t>. Системы контроля версий типа </a:t>
            </a:r>
            <a:r>
              <a:rPr lang="ru-RU" sz="2400" b="0" i="0">
                <a:solidFill>
                  <a:schemeClr val="bg1"/>
                </a:solidFill>
                <a:latin typeface="Hack"/>
                <a:ea typeface="Hack"/>
                <a:cs typeface="Hack"/>
              </a:rPr>
              <a:t>Git</a:t>
            </a:r>
            <a:r>
              <a:rPr lang="ru-RU" sz="2400" b="0" i="0">
                <a:solidFill>
                  <a:schemeClr val="bg1"/>
                </a:solidFill>
                <a:latin typeface="Hack"/>
                <a:ea typeface="Hack"/>
                <a:cs typeface="Hack"/>
              </a:rPr>
              <a:t> хранят полную историю изменений, что создаёт риски: даже если ключ удалён из текущей версии кода, он может остаться в истории коммитов.</a:t>
            </a:r>
            <a:endParaRPr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-478305" y="1110814"/>
            <a:ext cx="5097129" cy="4636371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-367866" y="-343638"/>
            <a:ext cx="4986690" cy="1454452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-478305" y="5734769"/>
            <a:ext cx="5097129" cy="1421464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 rot="10800000">
            <a:off x="-415504" y="23159"/>
            <a:ext cx="14375966" cy="7156232"/>
          </a:xfrm>
          <a:prstGeom prst="rect">
            <a:avLst/>
          </a:prstGeom>
          <a:noFill/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-478306" y="2425700"/>
            <a:ext cx="668805" cy="1737002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47796" y="5854573"/>
            <a:ext cx="1955366" cy="686735"/>
          </a:xfrm>
          <a:prstGeom prst="rect">
            <a:avLst/>
          </a:prstGeom>
        </p:spPr>
      </p:pic>
      <p:sp>
        <p:nvSpPr>
          <p:cNvPr id="23" name="Прямоугольник: скругленные углы 22"/>
          <p:cNvSpPr/>
          <p:nvPr/>
        </p:nvSpPr>
        <p:spPr bwMode="auto">
          <a:xfrm>
            <a:off x="673100" y="5873499"/>
            <a:ext cx="2260600" cy="1110815"/>
          </a:xfrm>
          <a:prstGeom prst="roundRect">
            <a:avLst>
              <a:gd name="adj" fmla="val 16667"/>
            </a:avLst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7" name="Прямоугольник: скругленные углы 26"/>
          <p:cNvSpPr/>
          <p:nvPr/>
        </p:nvSpPr>
        <p:spPr bwMode="auto">
          <a:xfrm>
            <a:off x="1888131" y="6090822"/>
            <a:ext cx="2260600" cy="686735"/>
          </a:xfrm>
          <a:prstGeom prst="roundRect">
            <a:avLst>
              <a:gd name="adj" fmla="val 16667"/>
            </a:avLst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8" name="Прямоугольник 27"/>
          <p:cNvSpPr/>
          <p:nvPr/>
        </p:nvSpPr>
        <p:spPr bwMode="auto">
          <a:xfrm>
            <a:off x="5698405" y="399926"/>
            <a:ext cx="774336" cy="606723"/>
          </a:xfrm>
          <a:prstGeom prst="rect">
            <a:avLst/>
          </a:prstGeom>
          <a:solidFill>
            <a:srgbClr val="77ED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 bwMode="auto">
          <a:xfrm>
            <a:off x="9976110" y="819263"/>
            <a:ext cx="675552" cy="507198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069527" y="1127928"/>
            <a:ext cx="1950773" cy="507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4218593" y="615958"/>
            <a:ext cx="669088" cy="502345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" name="Text 0"/>
          <p:cNvSpPr/>
          <p:nvPr/>
        </p:nvSpPr>
        <p:spPr bwMode="auto">
          <a:xfrm>
            <a:off x="5059230" y="461765"/>
            <a:ext cx="6223793" cy="117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583"/>
              </a:lnSpc>
              <a:defRPr/>
            </a:pPr>
            <a:r>
              <a:rPr lang="en-US" sz="3650">
                <a:solidFill>
                  <a:srgbClr val="FFFFFF"/>
                </a:solidFill>
                <a:latin typeface="Hack"/>
                <a:ea typeface="Hack"/>
                <a:cs typeface="Hack"/>
              </a:rPr>
              <a:t>Одна ошибка — миллионные </a:t>
            </a:r>
            <a:r>
              <a:rPr lang="en-US" sz="3650">
                <a:latin typeface="Hack"/>
                <a:ea typeface="Hack"/>
                <a:cs typeface="Hack"/>
              </a:rPr>
              <a:t>потери</a:t>
            </a:r>
            <a:endParaRPr/>
          </a:p>
        </p:txBody>
      </p:sp>
      <p:sp>
        <p:nvSpPr>
          <p:cNvPr id="4" name="Text 1"/>
          <p:cNvSpPr/>
          <p:nvPr/>
        </p:nvSpPr>
        <p:spPr bwMode="auto">
          <a:xfrm>
            <a:off x="6695548" y="2069193"/>
            <a:ext cx="3811982" cy="3969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  <a:defRPr/>
            </a:pPr>
            <a:r>
              <a:rPr lang="en-US" sz="2400">
                <a:solidFill>
                  <a:srgbClr val="FFFFFF"/>
                </a:solidFill>
                <a:latin typeface="Hack"/>
                <a:ea typeface="Hack"/>
                <a:cs typeface="Hack"/>
              </a:rPr>
              <a:t>Всего один случайно забытый токен в репозитории может привести к катастрофическим последствиям: утечке конфиденциальных данных, компрометации инфраструктуры и </a:t>
            </a:r>
            <a:r>
              <a:rPr lang="en-US" sz="2400" b="1">
                <a:solidFill>
                  <a:srgbClr val="FFFFFF"/>
                </a:solidFill>
                <a:latin typeface="Hack"/>
                <a:ea typeface="Hack"/>
                <a:cs typeface="Hack"/>
              </a:rPr>
              <a:t>финансовым</a:t>
            </a:r>
            <a:r>
              <a:rPr lang="en-US" sz="2400" b="1">
                <a:solidFill>
                  <a:srgbClr val="FFFFFF"/>
                </a:solidFill>
                <a:latin typeface="Hack"/>
                <a:ea typeface="Hack"/>
                <a:cs typeface="Hack"/>
              </a:rPr>
              <a:t> </a:t>
            </a:r>
            <a:r>
              <a:rPr lang="en-US" sz="2400" b="1">
                <a:solidFill>
                  <a:srgbClr val="FFFFFF"/>
                </a:solidFill>
                <a:latin typeface="Hack"/>
                <a:ea typeface="Hack"/>
                <a:cs typeface="Hack"/>
              </a:rPr>
              <a:t>потерям</a:t>
            </a:r>
            <a:r>
              <a:rPr lang="en-US" sz="2400" b="1">
                <a:solidFill>
                  <a:srgbClr val="FFFFFF"/>
                </a:solidFill>
                <a:latin typeface="Hack"/>
                <a:ea typeface="Hack"/>
                <a:cs typeface="Hack"/>
              </a:rPr>
              <a:t> </a:t>
            </a:r>
            <a:r>
              <a:rPr lang="en-US" sz="2400" b="1">
                <a:solidFill>
                  <a:srgbClr val="FFFFFF"/>
                </a:solidFill>
                <a:latin typeface="Hack"/>
                <a:ea typeface="Hack"/>
                <a:cs typeface="Hack"/>
              </a:rPr>
              <a:t>на</a:t>
            </a:r>
            <a:r>
              <a:rPr lang="en-US" sz="2400" b="1">
                <a:solidFill>
                  <a:srgbClr val="FFFFFF"/>
                </a:solidFill>
                <a:latin typeface="Hack"/>
                <a:ea typeface="Hack"/>
                <a:cs typeface="Hack"/>
              </a:rPr>
              <a:t> </a:t>
            </a:r>
            <a:r>
              <a:rPr lang="en-US" sz="2400" b="1">
                <a:solidFill>
                  <a:srgbClr val="FFFFFF"/>
                </a:solidFill>
                <a:latin typeface="Hack"/>
                <a:ea typeface="Hack"/>
                <a:cs typeface="Hack"/>
              </a:rPr>
              <a:t>миллионы</a:t>
            </a:r>
            <a:r>
              <a:rPr lang="en-US" sz="2400" b="1">
                <a:solidFill>
                  <a:srgbClr val="FFFFFF"/>
                </a:solidFill>
                <a:latin typeface="Hack"/>
                <a:ea typeface="Hack"/>
                <a:cs typeface="Hack"/>
              </a:rPr>
              <a:t> </a:t>
            </a:r>
            <a:r>
              <a:rPr lang="en-US" sz="2400">
                <a:solidFill>
                  <a:srgbClr val="FFFFFF"/>
                </a:solidFill>
                <a:latin typeface="Hack"/>
                <a:ea typeface="Hack"/>
                <a:cs typeface="Hack"/>
              </a:rPr>
              <a:t>рублей</a:t>
            </a:r>
            <a:r>
              <a:rPr lang="en-US" sz="2400">
                <a:solidFill>
                  <a:srgbClr val="FFFFFF"/>
                </a:solidFill>
                <a:latin typeface="Hack"/>
                <a:ea typeface="Hack"/>
                <a:cs typeface="Hack"/>
              </a:rPr>
              <a:t>.</a:t>
            </a:r>
            <a:endParaRPr lang="en-US" sz="2400">
              <a:latin typeface="Hack"/>
              <a:ea typeface="Hack"/>
              <a:cs typeface="Hack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443412" y="6038736"/>
            <a:ext cx="1679224" cy="819263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rcRect l="0" t="22737" r="47776" b="968"/>
          <a:stretch/>
        </p:blipFill>
        <p:spPr bwMode="auto">
          <a:xfrm>
            <a:off x="-578642" y="2069193"/>
            <a:ext cx="6223793" cy="3474165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 bwMode="auto">
          <a:xfrm>
            <a:off x="0" y="574837"/>
            <a:ext cx="2974732" cy="15968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9976110" y="-5876"/>
            <a:ext cx="675551" cy="629080"/>
          </a:xfrm>
          <a:prstGeom prst="rect">
            <a:avLst/>
          </a:prstGeom>
          <a:solidFill>
            <a:srgbClr val="77ED5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0" y="32225"/>
            <a:ext cx="4237456" cy="1095703"/>
          </a:xfrm>
          <a:prstGeom prst="rect">
            <a:avLst/>
          </a:prstGeom>
          <a:solidFill>
            <a:srgbClr val="77ED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-85199" y="5543357"/>
            <a:ext cx="5645152" cy="13146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 bwMode="auto">
          <a:xfrm>
            <a:off x="9661581" y="5238914"/>
            <a:ext cx="723772" cy="7708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-40356" y="787400"/>
            <a:ext cx="1792955" cy="1460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" name="Text 2"/>
          <p:cNvSpPr/>
          <p:nvPr/>
        </p:nvSpPr>
        <p:spPr bwMode="auto">
          <a:xfrm>
            <a:off x="6382879" y="787400"/>
            <a:ext cx="5774786" cy="4025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lang="en-US" sz="3600">
                <a:solidFill>
                  <a:srgbClr val="FFFFFF"/>
                </a:solidFill>
                <a:latin typeface="Hack"/>
                <a:ea typeface="Hack"/>
                <a:cs typeface="Hack"/>
              </a:rPr>
              <a:t>Secret Scanner</a:t>
            </a:r>
            <a:br>
              <a:rPr lang="en-US" sz="3600">
                <a:solidFill>
                  <a:srgbClr val="FFFFFF"/>
                </a:solidFill>
                <a:latin typeface="Hack"/>
                <a:ea typeface="Hack"/>
                <a:cs typeface="Hack"/>
              </a:rPr>
            </a:br>
            <a:r>
              <a:rPr lang="en-US" sz="3600">
                <a:solidFill>
                  <a:srgbClr val="FFFFFF"/>
                </a:solidFill>
                <a:latin typeface="Hack"/>
                <a:ea typeface="Hack"/>
                <a:cs typeface="Hack"/>
              </a:rPr>
              <a:t>специализированный</a:t>
            </a:r>
            <a:r>
              <a:rPr lang="en-US" sz="3600">
                <a:solidFill>
                  <a:srgbClr val="FFFFFF"/>
                </a:solidFill>
                <a:latin typeface="Hack"/>
                <a:ea typeface="Hack"/>
                <a:cs typeface="Hack"/>
              </a:rPr>
              <a:t> </a:t>
            </a:r>
            <a:r>
              <a:rPr lang="en-US" sz="3600">
                <a:solidFill>
                  <a:srgbClr val="FFFFFF"/>
                </a:solidFill>
                <a:latin typeface="Hack"/>
                <a:ea typeface="Hack"/>
                <a:cs typeface="Hack"/>
              </a:rPr>
              <a:t>инструмент</a:t>
            </a:r>
            <a:r>
              <a:rPr lang="en-US" sz="3600">
                <a:solidFill>
                  <a:srgbClr val="FFFFFF"/>
                </a:solidFill>
                <a:latin typeface="Hack"/>
                <a:ea typeface="Hack"/>
                <a:cs typeface="Hack"/>
              </a:rPr>
              <a:t> для глубокого поиска захардкоженных секретов, паролей и API-ключей в исходном коде и истории коммитов.</a:t>
            </a:r>
            <a:endParaRPr lang="en-US" sz="3600">
              <a:latin typeface="Hack"/>
              <a:ea typeface="Hack"/>
              <a:cs typeface="Hack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65939" y="1517650"/>
            <a:ext cx="5630061" cy="353426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 bwMode="auto">
          <a:xfrm>
            <a:off x="465939" y="5051918"/>
            <a:ext cx="1475148" cy="11142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0385353" y="6009738"/>
            <a:ext cx="2559842" cy="12031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5754698" y="485672"/>
            <a:ext cx="553490" cy="1889227"/>
          </a:xfrm>
          <a:prstGeom prst="rect">
            <a:avLst/>
          </a:prstGeom>
          <a:solidFill>
            <a:srgbClr val="77ED5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64978" y="5010282"/>
            <a:ext cx="4131022" cy="1889227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52598" y="0"/>
            <a:ext cx="4002099" cy="1517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" name="Прямоугольник 38"/>
          <p:cNvSpPr/>
          <p:nvPr/>
        </p:nvSpPr>
        <p:spPr bwMode="auto">
          <a:xfrm>
            <a:off x="6848486" y="637951"/>
            <a:ext cx="663768" cy="6772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6" name="Прямоугольник 35"/>
          <p:cNvSpPr/>
          <p:nvPr/>
        </p:nvSpPr>
        <p:spPr bwMode="auto">
          <a:xfrm>
            <a:off x="9537700" y="-14557"/>
            <a:ext cx="804453" cy="7263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Text 0"/>
          <p:cNvSpPr/>
          <p:nvPr/>
        </p:nvSpPr>
        <p:spPr bwMode="auto">
          <a:xfrm>
            <a:off x="698102" y="629427"/>
            <a:ext cx="4966693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  <a:defRPr/>
            </a:pPr>
            <a:r>
              <a:rPr lang="en-US" sz="3650">
                <a:solidFill>
                  <a:srgbClr val="FFFFFF"/>
                </a:solidFill>
                <a:latin typeface="Hack"/>
                <a:ea typeface="Hack"/>
                <a:cs typeface="Hack"/>
              </a:rPr>
              <a:t>Технологический стек</a:t>
            </a:r>
            <a:endParaRPr lang="en-US" sz="3650">
              <a:latin typeface="Hack"/>
              <a:ea typeface="Hack"/>
              <a:cs typeface="Hack"/>
            </a:endParaRPr>
          </a:p>
        </p:txBody>
      </p:sp>
      <p:sp>
        <p:nvSpPr>
          <p:cNvPr id="3" name="Shape 1"/>
          <p:cNvSpPr/>
          <p:nvPr/>
        </p:nvSpPr>
        <p:spPr bwMode="auto">
          <a:xfrm>
            <a:off x="698102" y="2366467"/>
            <a:ext cx="5298182" cy="1455638"/>
          </a:xfrm>
          <a:prstGeom prst="roundRect">
            <a:avLst>
              <a:gd name="adj" fmla="val 8376"/>
            </a:avLst>
          </a:prstGeom>
          <a:solidFill>
            <a:srgbClr val="00002E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 bwMode="auto">
          <a:xfrm>
            <a:off x="698102" y="2341067"/>
            <a:ext cx="5298182" cy="101600"/>
          </a:xfrm>
          <a:prstGeom prst="roundRect">
            <a:avLst>
              <a:gd name="adj" fmla="val 294514"/>
            </a:avLst>
          </a:prstGeom>
          <a:solidFill>
            <a:srgbClr val="F2B42D"/>
          </a:solidFill>
          <a:ln/>
        </p:spPr>
      </p:sp>
      <p:sp>
        <p:nvSpPr>
          <p:cNvPr id="5" name="Shape 3"/>
          <p:cNvSpPr/>
          <p:nvPr/>
        </p:nvSpPr>
        <p:spPr bwMode="auto">
          <a:xfrm>
            <a:off x="3047950" y="2067322"/>
            <a:ext cx="598388" cy="598388"/>
          </a:xfrm>
          <a:prstGeom prst="roundRect">
            <a:avLst>
              <a:gd name="adj" fmla="val 127342"/>
            </a:avLst>
          </a:prstGeom>
          <a:solidFill>
            <a:srgbClr val="F2B42D"/>
          </a:solidFill>
          <a:ln/>
        </p:spPr>
      </p:sp>
      <p:sp>
        <p:nvSpPr>
          <p:cNvPr id="7" name="Text 4"/>
          <p:cNvSpPr/>
          <p:nvPr/>
        </p:nvSpPr>
        <p:spPr bwMode="auto">
          <a:xfrm>
            <a:off x="922933" y="2865140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  <a:defRPr/>
            </a:pPr>
            <a:r>
              <a:rPr lang="en-US" sz="1850">
                <a:solidFill>
                  <a:srgbClr val="FFFFFF"/>
                </a:solidFill>
                <a:latin typeface="Hack"/>
                <a:ea typeface="Hack"/>
                <a:cs typeface="Hack"/>
              </a:rPr>
              <a:t>Python/C++/C/</a:t>
            </a:r>
            <a:endParaRPr lang="en-US" sz="1850">
              <a:latin typeface="Hack"/>
              <a:ea typeface="Hack"/>
              <a:cs typeface="Hack"/>
            </a:endParaRPr>
          </a:p>
        </p:txBody>
      </p:sp>
      <p:sp>
        <p:nvSpPr>
          <p:cNvPr id="8" name="Text 5"/>
          <p:cNvSpPr/>
          <p:nvPr/>
        </p:nvSpPr>
        <p:spPr bwMode="auto">
          <a:xfrm>
            <a:off x="922933" y="3278088"/>
            <a:ext cx="48485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  <a:defRPr/>
            </a:pPr>
            <a:r>
              <a:rPr lang="en-US" sz="1550">
                <a:solidFill>
                  <a:srgbClr val="FFFFFF"/>
                </a:solidFill>
                <a:latin typeface="Hack"/>
                <a:ea typeface="Hack"/>
                <a:cs typeface="Hack"/>
              </a:rPr>
              <a:t>Ядро системы с использованием AST-парсинга</a:t>
            </a:r>
            <a:endParaRPr lang="en-US" sz="1550">
              <a:latin typeface="Hack"/>
              <a:ea typeface="Hack"/>
              <a:cs typeface="Hack"/>
            </a:endParaRPr>
          </a:p>
        </p:txBody>
      </p:sp>
      <p:sp>
        <p:nvSpPr>
          <p:cNvPr id="9" name="Shape 6"/>
          <p:cNvSpPr/>
          <p:nvPr/>
        </p:nvSpPr>
        <p:spPr bwMode="auto">
          <a:xfrm>
            <a:off x="6195715" y="2366467"/>
            <a:ext cx="5298182" cy="1455638"/>
          </a:xfrm>
          <a:prstGeom prst="roundRect">
            <a:avLst>
              <a:gd name="adj" fmla="val 8376"/>
            </a:avLst>
          </a:prstGeom>
          <a:solidFill>
            <a:srgbClr val="00002E">
              <a:alpha val="75000"/>
            </a:srgbClr>
          </a:solidFill>
          <a:ln/>
        </p:spPr>
      </p:sp>
      <p:sp>
        <p:nvSpPr>
          <p:cNvPr id="10" name="Shape 7"/>
          <p:cNvSpPr/>
          <p:nvPr/>
        </p:nvSpPr>
        <p:spPr bwMode="auto">
          <a:xfrm>
            <a:off x="6195715" y="2341067"/>
            <a:ext cx="5298182" cy="101600"/>
          </a:xfrm>
          <a:prstGeom prst="roundRect">
            <a:avLst>
              <a:gd name="adj" fmla="val 294514"/>
            </a:avLst>
          </a:prstGeom>
          <a:solidFill>
            <a:schemeClr val="accent6">
              <a:lumMod val="60000"/>
              <a:lumOff val="40000"/>
            </a:schemeClr>
          </a:solidFill>
          <a:ln/>
        </p:spPr>
      </p:sp>
      <p:sp>
        <p:nvSpPr>
          <p:cNvPr id="11" name="Shape 8"/>
          <p:cNvSpPr/>
          <p:nvPr/>
        </p:nvSpPr>
        <p:spPr bwMode="auto">
          <a:xfrm>
            <a:off x="8545563" y="2067322"/>
            <a:ext cx="598388" cy="598388"/>
          </a:xfrm>
          <a:prstGeom prst="roundRect">
            <a:avLst>
              <a:gd name="adj" fmla="val 127342"/>
            </a:avLst>
          </a:prstGeom>
          <a:solidFill>
            <a:srgbClr val="F2B42D"/>
          </a:solidFill>
          <a:ln/>
        </p:spPr>
      </p:sp>
      <p:sp>
        <p:nvSpPr>
          <p:cNvPr id="13" name="Text 9"/>
          <p:cNvSpPr/>
          <p:nvPr/>
        </p:nvSpPr>
        <p:spPr bwMode="auto">
          <a:xfrm>
            <a:off x="6420545" y="2865140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  <a:defRPr/>
            </a:pPr>
            <a:r>
              <a:rPr lang="en-US" sz="1850">
                <a:solidFill>
                  <a:srgbClr val="FFFFFF"/>
                </a:solidFill>
                <a:latin typeface="Hack"/>
                <a:ea typeface="Hack"/>
                <a:cs typeface="Hack"/>
              </a:rPr>
              <a:t>Git</a:t>
            </a:r>
            <a:endParaRPr lang="en-US" sz="1850">
              <a:latin typeface="Hack"/>
              <a:ea typeface="Hack"/>
              <a:cs typeface="Hack"/>
            </a:endParaRPr>
          </a:p>
        </p:txBody>
      </p:sp>
      <p:sp>
        <p:nvSpPr>
          <p:cNvPr id="14" name="Text 10"/>
          <p:cNvSpPr/>
          <p:nvPr/>
        </p:nvSpPr>
        <p:spPr bwMode="auto">
          <a:xfrm>
            <a:off x="6420544" y="3278088"/>
            <a:ext cx="48485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  <a:defRPr/>
            </a:pPr>
            <a:r>
              <a:rPr lang="en-US" sz="1550">
                <a:solidFill>
                  <a:srgbClr val="FFFFFF"/>
                </a:solidFill>
                <a:latin typeface="Hack"/>
                <a:ea typeface="Hack"/>
                <a:cs typeface="Hack"/>
              </a:rPr>
              <a:t>Анализ всей истории коммитов</a:t>
            </a:r>
            <a:endParaRPr lang="en-US" sz="1550">
              <a:latin typeface="Hack"/>
              <a:ea typeface="Hack"/>
              <a:cs typeface="Hack"/>
            </a:endParaRPr>
          </a:p>
        </p:txBody>
      </p:sp>
      <p:sp>
        <p:nvSpPr>
          <p:cNvPr id="15" name="Shape 11"/>
          <p:cNvSpPr/>
          <p:nvPr/>
        </p:nvSpPr>
        <p:spPr bwMode="auto">
          <a:xfrm>
            <a:off x="698102" y="4320679"/>
            <a:ext cx="5298182" cy="1455638"/>
          </a:xfrm>
          <a:prstGeom prst="roundRect">
            <a:avLst>
              <a:gd name="adj" fmla="val 8376"/>
            </a:avLst>
          </a:prstGeom>
          <a:solidFill>
            <a:srgbClr val="00002E">
              <a:alpha val="75000"/>
            </a:srgbClr>
          </a:solidFill>
          <a:ln/>
        </p:spPr>
      </p:sp>
      <p:sp>
        <p:nvSpPr>
          <p:cNvPr id="16" name="Shape 12"/>
          <p:cNvSpPr/>
          <p:nvPr/>
        </p:nvSpPr>
        <p:spPr bwMode="auto">
          <a:xfrm>
            <a:off x="698102" y="4295279"/>
            <a:ext cx="5298182" cy="101600"/>
          </a:xfrm>
          <a:prstGeom prst="roundRect">
            <a:avLst>
              <a:gd name="adj" fmla="val 294514"/>
            </a:avLst>
          </a:prstGeom>
          <a:solidFill>
            <a:srgbClr val="DD785E"/>
          </a:solidFill>
          <a:ln/>
        </p:spPr>
      </p:sp>
      <p:sp>
        <p:nvSpPr>
          <p:cNvPr id="17" name="Shape 13"/>
          <p:cNvSpPr/>
          <p:nvPr/>
        </p:nvSpPr>
        <p:spPr bwMode="auto">
          <a:xfrm>
            <a:off x="3047950" y="4021533"/>
            <a:ext cx="598388" cy="598388"/>
          </a:xfrm>
          <a:prstGeom prst="roundRect">
            <a:avLst>
              <a:gd name="adj" fmla="val 16042"/>
            </a:avLst>
          </a:prstGeom>
          <a:solidFill>
            <a:srgbClr val="F2B42D"/>
          </a:solidFill>
          <a:ln/>
        </p:spPr>
      </p:sp>
      <p:sp>
        <p:nvSpPr>
          <p:cNvPr id="19" name="Text 14"/>
          <p:cNvSpPr/>
          <p:nvPr/>
        </p:nvSpPr>
        <p:spPr bwMode="auto">
          <a:xfrm>
            <a:off x="922933" y="4819353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  <a:defRPr/>
            </a:pPr>
            <a:r>
              <a:rPr lang="en-US" sz="1850">
                <a:solidFill>
                  <a:srgbClr val="FFFFFF"/>
                </a:solidFill>
                <a:latin typeface="Hack"/>
                <a:ea typeface="Hack"/>
                <a:cs typeface="Hack"/>
              </a:rPr>
              <a:t>Flask</a:t>
            </a:r>
            <a:endParaRPr lang="en-US" sz="1850">
              <a:latin typeface="Hack"/>
              <a:ea typeface="Hack"/>
              <a:cs typeface="Hack"/>
            </a:endParaRPr>
          </a:p>
        </p:txBody>
      </p:sp>
      <p:sp>
        <p:nvSpPr>
          <p:cNvPr id="20" name="Text 15"/>
          <p:cNvSpPr/>
          <p:nvPr/>
        </p:nvSpPr>
        <p:spPr bwMode="auto">
          <a:xfrm>
            <a:off x="922933" y="5232301"/>
            <a:ext cx="48485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  <a:defRPr/>
            </a:pPr>
            <a:r>
              <a:rPr lang="en-US" sz="1550">
                <a:solidFill>
                  <a:srgbClr val="FFFFFF"/>
                </a:solidFill>
                <a:latin typeface="Hack"/>
                <a:ea typeface="Hack"/>
                <a:cs typeface="Hack"/>
              </a:rPr>
              <a:t>Веб-интерфейс с Jinja2</a:t>
            </a:r>
            <a:endParaRPr lang="en-US" sz="1550">
              <a:latin typeface="Hack"/>
              <a:ea typeface="Hack"/>
              <a:cs typeface="Hack"/>
            </a:endParaRPr>
          </a:p>
        </p:txBody>
      </p:sp>
      <p:sp>
        <p:nvSpPr>
          <p:cNvPr id="21" name="Shape 16"/>
          <p:cNvSpPr/>
          <p:nvPr/>
        </p:nvSpPr>
        <p:spPr bwMode="auto">
          <a:xfrm>
            <a:off x="6195715" y="4320679"/>
            <a:ext cx="5298182" cy="1455638"/>
          </a:xfrm>
          <a:prstGeom prst="roundRect">
            <a:avLst>
              <a:gd name="adj" fmla="val 8376"/>
            </a:avLst>
          </a:prstGeom>
          <a:solidFill>
            <a:srgbClr val="00002E">
              <a:alpha val="75000"/>
            </a:srgbClr>
          </a:solidFill>
          <a:ln/>
        </p:spPr>
      </p:sp>
      <p:sp>
        <p:nvSpPr>
          <p:cNvPr id="22" name="Shape 17"/>
          <p:cNvSpPr/>
          <p:nvPr/>
        </p:nvSpPr>
        <p:spPr bwMode="auto">
          <a:xfrm>
            <a:off x="6195715" y="4295279"/>
            <a:ext cx="5298182" cy="101600"/>
          </a:xfrm>
          <a:prstGeom prst="roundRect">
            <a:avLst>
              <a:gd name="adj" fmla="val 294514"/>
            </a:avLst>
          </a:prstGeom>
          <a:solidFill>
            <a:srgbClr val="48A8E2"/>
          </a:solidFill>
          <a:ln/>
        </p:spPr>
      </p:sp>
      <p:sp>
        <p:nvSpPr>
          <p:cNvPr id="23" name="Shape 18"/>
          <p:cNvSpPr/>
          <p:nvPr/>
        </p:nvSpPr>
        <p:spPr bwMode="auto">
          <a:xfrm>
            <a:off x="8545563" y="4021533"/>
            <a:ext cx="598388" cy="598388"/>
          </a:xfrm>
          <a:prstGeom prst="roundRect">
            <a:avLst>
              <a:gd name="adj" fmla="val 127342"/>
            </a:avLst>
          </a:prstGeom>
          <a:solidFill>
            <a:srgbClr val="F2B42D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725050" y="4201021"/>
            <a:ext cx="239316" cy="2393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 bwMode="auto">
          <a:xfrm>
            <a:off x="6420545" y="4819353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  <a:defRPr/>
            </a:pPr>
            <a:r>
              <a:rPr lang="en-US" sz="1850">
                <a:solidFill>
                  <a:srgbClr val="FFFFFF"/>
                </a:solidFill>
                <a:latin typeface="Hack"/>
                <a:ea typeface="Hack"/>
                <a:cs typeface="Hack"/>
              </a:rPr>
              <a:t>JSON/HTML</a:t>
            </a:r>
            <a:endParaRPr lang="en-US" sz="1850">
              <a:latin typeface="Hack"/>
              <a:ea typeface="Hack"/>
              <a:cs typeface="Hack"/>
            </a:endParaRPr>
          </a:p>
        </p:txBody>
      </p:sp>
      <p:sp>
        <p:nvSpPr>
          <p:cNvPr id="26" name="Text 20"/>
          <p:cNvSpPr/>
          <p:nvPr/>
        </p:nvSpPr>
        <p:spPr bwMode="auto">
          <a:xfrm>
            <a:off x="6420544" y="5232301"/>
            <a:ext cx="48485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  <a:defRPr/>
            </a:pPr>
            <a:r>
              <a:rPr lang="en-US" sz="1550">
                <a:solidFill>
                  <a:srgbClr val="FFFFFF"/>
                </a:solidFill>
                <a:latin typeface="Hack"/>
                <a:ea typeface="Hack"/>
                <a:cs typeface="Hack"/>
              </a:rPr>
              <a:t>Структурированные отчеты</a:t>
            </a:r>
            <a:endParaRPr lang="en-US" sz="1550">
              <a:latin typeface="Hack"/>
              <a:ea typeface="Hack"/>
              <a:cs typeface="Hack"/>
            </a:endParaRP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443412" y="6038736"/>
            <a:ext cx="1679224" cy="819263"/>
          </a:xfrm>
          <a:prstGeom prst="rect">
            <a:avLst/>
          </a:prstGeom>
        </p:spPr>
      </p:pic>
      <p:sp>
        <p:nvSpPr>
          <p:cNvPr id="29" name="Shape 13"/>
          <p:cNvSpPr/>
          <p:nvPr/>
        </p:nvSpPr>
        <p:spPr bwMode="auto">
          <a:xfrm>
            <a:off x="3047950" y="2054573"/>
            <a:ext cx="598388" cy="618132"/>
          </a:xfrm>
          <a:prstGeom prst="roundRect">
            <a:avLst>
              <a:gd name="adj" fmla="val 16042"/>
            </a:avLst>
          </a:prstGeom>
          <a:solidFill>
            <a:srgbClr val="F2B42D"/>
          </a:solidFill>
          <a:ln/>
        </p:spPr>
      </p:sp>
      <p:sp>
        <p:nvSpPr>
          <p:cNvPr id="28" name="TextBox 27"/>
          <p:cNvSpPr txBox="1"/>
          <p:nvPr/>
        </p:nvSpPr>
        <p:spPr bwMode="auto">
          <a:xfrm>
            <a:off x="3073004" y="2104489"/>
            <a:ext cx="678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latin typeface="Hack"/>
                <a:ea typeface="Hack"/>
                <a:cs typeface="Hack"/>
              </a:rPr>
              <a:t>01</a:t>
            </a:r>
            <a:endParaRPr lang="ru-RU" sz="2800">
              <a:latin typeface="Hack"/>
              <a:ea typeface="Hack"/>
              <a:cs typeface="Hack"/>
            </a:endParaRPr>
          </a:p>
        </p:txBody>
      </p:sp>
      <p:sp>
        <p:nvSpPr>
          <p:cNvPr id="30" name="Shape 13"/>
          <p:cNvSpPr/>
          <p:nvPr/>
        </p:nvSpPr>
        <p:spPr bwMode="auto">
          <a:xfrm>
            <a:off x="8545563" y="2054573"/>
            <a:ext cx="620316" cy="618132"/>
          </a:xfrm>
          <a:prstGeom prst="roundRect">
            <a:avLst>
              <a:gd name="adj" fmla="val 16042"/>
            </a:avLst>
          </a:prstGeom>
          <a:solidFill>
            <a:srgbClr val="F2B42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661581" y="2156353"/>
            <a:ext cx="419008" cy="419008"/>
          </a:xfrm>
          <a:prstGeom prst="rect">
            <a:avLst/>
          </a:prstGeom>
        </p:spPr>
      </p:pic>
      <p:sp>
        <p:nvSpPr>
          <p:cNvPr id="31" name="Shape 13"/>
          <p:cNvSpPr/>
          <p:nvPr/>
        </p:nvSpPr>
        <p:spPr bwMode="auto">
          <a:xfrm>
            <a:off x="8545563" y="4009728"/>
            <a:ext cx="598388" cy="610194"/>
          </a:xfrm>
          <a:prstGeom prst="roundRect">
            <a:avLst>
              <a:gd name="adj" fmla="val 16042"/>
            </a:avLst>
          </a:prstGeom>
          <a:solidFill>
            <a:srgbClr val="F2B42D"/>
          </a:solidFill>
          <a:ln/>
        </p:spPr>
      </p:sp>
      <p:sp>
        <p:nvSpPr>
          <p:cNvPr id="32" name="TextBox 31"/>
          <p:cNvSpPr txBox="1"/>
          <p:nvPr/>
        </p:nvSpPr>
        <p:spPr bwMode="auto">
          <a:xfrm>
            <a:off x="8590941" y="3961032"/>
            <a:ext cx="5983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>
                <a:latin typeface="Hack"/>
                <a:ea typeface="Hack"/>
                <a:cs typeface="Hack"/>
              </a:rPr>
              <a:t>https://</a:t>
            </a:r>
            <a:endParaRPr lang="ru-RU" sz="1400">
              <a:latin typeface="Hack"/>
              <a:ea typeface="Hack"/>
              <a:cs typeface="Hack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3137743" y="4130309"/>
            <a:ext cx="598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i="1">
                <a:latin typeface="Hack"/>
                <a:ea typeface="Hack"/>
                <a:cs typeface="Hack"/>
              </a:rPr>
              <a:t>FL</a:t>
            </a:r>
            <a:endParaRPr lang="ru-RU" sz="2000" i="1">
              <a:latin typeface="Hack"/>
              <a:ea typeface="Hack"/>
              <a:cs typeface="Hack"/>
            </a:endParaRPr>
          </a:p>
        </p:txBody>
      </p:sp>
      <p:sp>
        <p:nvSpPr>
          <p:cNvPr id="34" name="Прямоугольник 33"/>
          <p:cNvSpPr/>
          <p:nvPr/>
        </p:nvSpPr>
        <p:spPr bwMode="auto">
          <a:xfrm>
            <a:off x="10342153" y="711777"/>
            <a:ext cx="1918717" cy="708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8" name="Прямоугольник 37"/>
          <p:cNvSpPr/>
          <p:nvPr/>
        </p:nvSpPr>
        <p:spPr bwMode="auto">
          <a:xfrm>
            <a:off x="6639081" y="471020"/>
            <a:ext cx="663768" cy="677289"/>
          </a:xfrm>
          <a:prstGeom prst="rect">
            <a:avLst/>
          </a:prstGeom>
          <a:solidFill>
            <a:srgbClr val="77ED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7" name="Прямоугольник 36"/>
          <p:cNvSpPr/>
          <p:nvPr/>
        </p:nvSpPr>
        <p:spPr bwMode="auto">
          <a:xfrm>
            <a:off x="-261714" y="6060117"/>
            <a:ext cx="1182029" cy="9990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41" name="Picture 2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494776" y="6243298"/>
            <a:ext cx="1355121" cy="343368"/>
          </a:xfrm>
          <a:prstGeom prst="rect">
            <a:avLst/>
          </a:prstGeom>
          <a:noFill/>
        </p:spPr>
      </p:pic>
      <p:sp>
        <p:nvSpPr>
          <p:cNvPr id="42" name="TextBox 41"/>
          <p:cNvSpPr txBox="1"/>
          <p:nvPr/>
        </p:nvSpPr>
        <p:spPr bwMode="auto">
          <a:xfrm>
            <a:off x="10319071" y="5905718"/>
            <a:ext cx="1415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Powered by </a:t>
            </a:r>
            <a:endParaRPr lang="ru-RU">
              <a:solidFill>
                <a:schemeClr val="bg1"/>
              </a:solidFill>
              <a:latin typeface="Hack"/>
              <a:ea typeface="Hack"/>
              <a:cs typeface="Hack"/>
            </a:endParaRPr>
          </a:p>
        </p:txBody>
      </p:sp>
      <p:sp>
        <p:nvSpPr>
          <p:cNvPr id="43" name="Прямоугольник 42"/>
          <p:cNvSpPr/>
          <p:nvPr/>
        </p:nvSpPr>
        <p:spPr bwMode="auto">
          <a:xfrm>
            <a:off x="9430971" y="925796"/>
            <a:ext cx="701777" cy="650707"/>
          </a:xfrm>
          <a:prstGeom prst="rect">
            <a:avLst/>
          </a:prstGeom>
          <a:solidFill>
            <a:srgbClr val="77ED5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 bwMode="auto">
          <a:xfrm>
            <a:off x="6451024" y="2193594"/>
            <a:ext cx="1950773" cy="507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7" name="Объект 6"/>
          <p:cNvPicPr>
            <a:picLocks noChangeAspect="1" noGrp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-50006" y="0"/>
            <a:ext cx="12292012" cy="6917238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 bwMode="auto">
          <a:xfrm>
            <a:off x="7916709" y="4447009"/>
            <a:ext cx="2675091" cy="2457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035584" y="1704325"/>
            <a:ext cx="2768371" cy="2543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3" name="Прямоугольник 12"/>
          <p:cNvSpPr/>
          <p:nvPr/>
        </p:nvSpPr>
        <p:spPr bwMode="auto">
          <a:xfrm>
            <a:off x="11517657" y="1229898"/>
            <a:ext cx="724349" cy="702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 rot="10800000">
            <a:off x="-50006" y="0"/>
            <a:ext cx="11352517" cy="6803578"/>
          </a:xfrm>
          <a:prstGeom prst="rect">
            <a:avLst/>
          </a:prstGeom>
          <a:noFill/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594100" y="1081263"/>
            <a:ext cx="6491124" cy="117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 bwMode="auto">
          <a:xfrm>
            <a:off x="3701716" y="987564"/>
            <a:ext cx="598691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chemeClr val="bg1"/>
                </a:solidFill>
                <a:latin typeface="Hack"/>
                <a:ea typeface="Hack"/>
                <a:cs typeface="Hack"/>
              </a:rPr>
              <a:t>Алгоритм</a:t>
            </a:r>
            <a:r>
              <a:rPr lang="en-US" sz="3600">
                <a:solidFill>
                  <a:schemeClr val="bg1"/>
                </a:solidFill>
                <a:latin typeface="Hack"/>
                <a:ea typeface="Hack"/>
                <a:cs typeface="Hack"/>
              </a:rPr>
              <a:t> </a:t>
            </a:r>
            <a:r>
              <a:rPr lang="en-US" sz="3600">
                <a:solidFill>
                  <a:schemeClr val="bg1"/>
                </a:solidFill>
                <a:latin typeface="Hack"/>
                <a:ea typeface="Hack"/>
                <a:cs typeface="Hack"/>
              </a:rPr>
              <a:t>ConfidenceScorer</a:t>
            </a:r>
            <a:endParaRPr lang="en-US" sz="3600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defRPr/>
            </a:pPr>
            <a:endParaRPr lang="ru-RU" sz="280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436317" y="2566417"/>
            <a:ext cx="5514970" cy="4178743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 bwMode="auto">
          <a:xfrm>
            <a:off x="2633851" y="341353"/>
            <a:ext cx="958277" cy="750848"/>
          </a:xfrm>
          <a:prstGeom prst="rect">
            <a:avLst/>
          </a:prstGeom>
          <a:solidFill>
            <a:srgbClr val="77ED56"/>
          </a:solidFill>
          <a:ln>
            <a:solidFill>
              <a:srgbClr val="77ED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302511" y="3239971"/>
            <a:ext cx="795189" cy="1415817"/>
          </a:xfrm>
          <a:prstGeom prst="rect">
            <a:avLst/>
          </a:prstGeom>
          <a:solidFill>
            <a:srgbClr val="77ED56"/>
          </a:solidFill>
          <a:ln>
            <a:solidFill>
              <a:srgbClr val="77ED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-30479"/>
            <a:ext cx="11480800" cy="688847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344156" y="-30479"/>
            <a:ext cx="847843" cy="688847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 bwMode="auto">
          <a:xfrm>
            <a:off x="10273283" y="-133814"/>
            <a:ext cx="1918717" cy="594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11711791" y="1079961"/>
            <a:ext cx="480209" cy="594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318487" y="5781041"/>
            <a:ext cx="990738" cy="242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 bwMode="auto">
          <a:xfrm>
            <a:off x="9291431" y="5738708"/>
            <a:ext cx="16966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>
                <a:solidFill>
                  <a:srgbClr val="FFFFFF"/>
                </a:solidFill>
                <a:latin typeface="Hack"/>
                <a:ea typeface="Hack"/>
                <a:cs typeface="Hack"/>
              </a:rPr>
              <a:t>Secret Scanner</a:t>
            </a:r>
            <a:endParaRPr lang="en-US" sz="1400">
              <a:latin typeface="Hack"/>
              <a:ea typeface="Hack"/>
              <a:cs typeface="Hack"/>
            </a:endParaRPr>
          </a:p>
          <a:p>
            <a:pPr>
              <a:defRPr/>
            </a:pPr>
            <a:endParaRPr lang="ru-RU" sz="120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806630" y="5773061"/>
            <a:ext cx="990738" cy="600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 bwMode="auto">
          <a:xfrm>
            <a:off x="6207512" y="1780099"/>
            <a:ext cx="260195" cy="2605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6207512" y="3690485"/>
            <a:ext cx="260195" cy="2605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0" y="-1"/>
            <a:ext cx="546410" cy="16392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13687" y="5712859"/>
            <a:ext cx="781159" cy="342948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723107" y="6417478"/>
            <a:ext cx="781159" cy="3429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 bwMode="auto">
          <a:xfrm>
            <a:off x="3697871" y="6417478"/>
            <a:ext cx="234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  <a:latin typeface="Hack"/>
                <a:ea typeface="Hack"/>
                <a:cs typeface="Hack"/>
              </a:rPr>
              <a:t>Secret Scanner</a:t>
            </a:r>
            <a:endParaRPr lang="en-US" sz="900">
              <a:latin typeface="Hack"/>
              <a:ea typeface="Hack"/>
              <a:cs typeface="Hack"/>
            </a:endParaRPr>
          </a:p>
          <a:p>
            <a:pPr>
              <a:defRPr/>
            </a:pPr>
            <a:endParaRPr lang="ru-RU" sz="900"/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494461" y="6346030"/>
            <a:ext cx="781160" cy="48584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 bwMode="auto">
          <a:xfrm>
            <a:off x="2494461" y="6358118"/>
            <a:ext cx="83293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050">
                <a:solidFill>
                  <a:schemeClr val="bg1"/>
                </a:solidFill>
                <a:latin typeface="Hack"/>
                <a:ea typeface="Hack"/>
                <a:cs typeface="Hack"/>
              </a:rPr>
              <a:t>Другие</a:t>
            </a:r>
            <a:endParaRPr/>
          </a:p>
          <a:p>
            <a:pPr>
              <a:defRPr/>
            </a:pPr>
            <a:r>
              <a:rPr lang="ru-RU" sz="1050">
                <a:solidFill>
                  <a:schemeClr val="bg1"/>
                </a:solidFill>
                <a:latin typeface="Hack"/>
                <a:ea typeface="Hack"/>
                <a:cs typeface="Hack"/>
              </a:rPr>
              <a:t>компании</a:t>
            </a:r>
            <a:endParaRPr/>
          </a:p>
        </p:txBody>
      </p:sp>
      <p:pic>
        <p:nvPicPr>
          <p:cNvPr id="35200658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6207512" y="4375219"/>
            <a:ext cx="4815345" cy="722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 bwMode="auto">
          <a:xfrm>
            <a:off x="1473201" y="516395"/>
            <a:ext cx="1724210" cy="1508135"/>
          </a:xfrm>
          <a:prstGeom prst="rect">
            <a:avLst/>
          </a:prstGeom>
          <a:solidFill>
            <a:srgbClr val="4ACE5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6619670" y="0"/>
            <a:ext cx="889340" cy="733718"/>
          </a:xfrm>
          <a:prstGeom prst="rect">
            <a:avLst/>
          </a:prstGeom>
          <a:solidFill>
            <a:srgbClr val="77ED56"/>
          </a:solidFill>
          <a:ln>
            <a:solidFill>
              <a:srgbClr val="77ED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Text 0"/>
          <p:cNvSpPr/>
          <p:nvPr/>
        </p:nvSpPr>
        <p:spPr bwMode="auto">
          <a:xfrm>
            <a:off x="698104" y="550367"/>
            <a:ext cx="5670153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  <a:defRPr/>
            </a:pPr>
            <a:r>
              <a:rPr lang="en-US" sz="3650">
                <a:solidFill>
                  <a:srgbClr val="FFFFFF"/>
                </a:solidFill>
                <a:latin typeface="Hack"/>
                <a:ea typeface="Hack"/>
                <a:cs typeface="Hack"/>
              </a:rPr>
              <a:t>Ключевое преимущество</a:t>
            </a:r>
            <a:endParaRPr lang="en-US" sz="3650">
              <a:latin typeface="Hack"/>
              <a:ea typeface="Hack"/>
              <a:cs typeface="Hack"/>
            </a:endParaRPr>
          </a:p>
        </p:txBody>
      </p:sp>
      <p:sp>
        <p:nvSpPr>
          <p:cNvPr id="3" name="Shape 1"/>
          <p:cNvSpPr/>
          <p:nvPr/>
        </p:nvSpPr>
        <p:spPr bwMode="auto">
          <a:xfrm>
            <a:off x="698102" y="1536006"/>
            <a:ext cx="10932619" cy="2286099"/>
          </a:xfrm>
          <a:prstGeom prst="roundRect">
            <a:avLst>
              <a:gd name="adj" fmla="val 13089"/>
            </a:avLst>
          </a:prstGeom>
          <a:solidFill>
            <a:srgbClr val="00002E"/>
          </a:solidFill>
          <a:ln w="22860">
            <a:solidFill>
              <a:schemeClr val="bg2">
                <a:lumMod val="75000"/>
              </a:schemeClr>
            </a:solidFill>
            <a:prstDash val="solid"/>
          </a:ln>
        </p:spPr>
      </p:sp>
      <p:sp>
        <p:nvSpPr>
          <p:cNvPr id="6" name="Text 3"/>
          <p:cNvSpPr/>
          <p:nvPr/>
        </p:nvSpPr>
        <p:spPr bwMode="auto">
          <a:xfrm>
            <a:off x="916582" y="1810751"/>
            <a:ext cx="253771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  <a:defRPr/>
            </a:pPr>
            <a:r>
              <a:rPr lang="en-US" sz="1850">
                <a:solidFill>
                  <a:srgbClr val="FFFFFF"/>
                </a:solidFill>
                <a:latin typeface="Hack"/>
                <a:ea typeface="Hack"/>
                <a:cs typeface="Hack"/>
              </a:rPr>
              <a:t>Локальная </a:t>
            </a:r>
            <a:r>
              <a:rPr lang="en-US" sz="2000">
                <a:solidFill>
                  <a:srgbClr val="FFFFFF"/>
                </a:solidFill>
                <a:latin typeface="Hack"/>
                <a:ea typeface="Hack"/>
                <a:cs typeface="Hack"/>
              </a:rPr>
              <a:t>специфика</a:t>
            </a:r>
            <a:endParaRPr lang="en-US" sz="1850">
              <a:latin typeface="Hack"/>
              <a:ea typeface="Hack"/>
              <a:cs typeface="Hack"/>
            </a:endParaRPr>
          </a:p>
        </p:txBody>
      </p:sp>
      <p:sp>
        <p:nvSpPr>
          <p:cNvPr id="7" name="Text 4"/>
          <p:cNvSpPr/>
          <p:nvPr/>
        </p:nvSpPr>
        <p:spPr bwMode="auto">
          <a:xfrm>
            <a:off x="916582" y="2381140"/>
            <a:ext cx="4861223" cy="1483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  <a:defRPr/>
            </a:pP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Распознает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 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токены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 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российских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 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провайдеров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: Yandex Cloud, VK Cloud, 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Selectel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, 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SberCloud</a:t>
            </a:r>
            <a:endParaRPr lang="en-US">
              <a:latin typeface="Hack"/>
              <a:ea typeface="Hack"/>
              <a:cs typeface="Hack"/>
            </a:endParaRPr>
          </a:p>
        </p:txBody>
      </p:sp>
      <p:sp>
        <p:nvSpPr>
          <p:cNvPr id="12" name="Text 8"/>
          <p:cNvSpPr/>
          <p:nvPr/>
        </p:nvSpPr>
        <p:spPr bwMode="auto">
          <a:xfrm>
            <a:off x="6195715" y="2381140"/>
            <a:ext cx="4861223" cy="1047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  <a:defRPr/>
            </a:pPr>
            <a:r>
              <a:rPr lang="en-US" sz="2000">
                <a:solidFill>
                  <a:srgbClr val="FFFFFF"/>
                </a:solidFill>
                <a:latin typeface="Hack"/>
                <a:ea typeface="Hack"/>
                <a:cs typeface="Hack"/>
              </a:rPr>
              <a:t>Поддержка ЮKassa, Тинькофф, CloudPayments и других национальных решений</a:t>
            </a:r>
            <a:endParaRPr lang="en-US" sz="2000">
              <a:latin typeface="Hack"/>
              <a:ea typeface="Hack"/>
              <a:cs typeface="Hack"/>
            </a:endParaRPr>
          </a:p>
        </p:txBody>
      </p:sp>
      <p:sp>
        <p:nvSpPr>
          <p:cNvPr id="13" name="Shape 9"/>
          <p:cNvSpPr/>
          <p:nvPr/>
        </p:nvSpPr>
        <p:spPr bwMode="auto">
          <a:xfrm>
            <a:off x="698102" y="4021535"/>
            <a:ext cx="5298182" cy="2286099"/>
          </a:xfrm>
          <a:prstGeom prst="roundRect">
            <a:avLst>
              <a:gd name="adj" fmla="val 13089"/>
            </a:avLst>
          </a:prstGeom>
          <a:solidFill>
            <a:srgbClr val="00002E"/>
          </a:solidFill>
          <a:ln w="22860">
            <a:solidFill>
              <a:schemeClr val="bg2">
                <a:lumMod val="75000"/>
              </a:schemeClr>
            </a:solidFill>
            <a:prstDash val="solid"/>
          </a:ln>
        </p:spPr>
      </p:sp>
      <p:sp>
        <p:nvSpPr>
          <p:cNvPr id="16" name="Text 11"/>
          <p:cNvSpPr/>
          <p:nvPr/>
        </p:nvSpPr>
        <p:spPr bwMode="auto">
          <a:xfrm>
            <a:off x="1016040" y="4490911"/>
            <a:ext cx="2785622" cy="437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  <a:defRPr/>
            </a:pPr>
            <a:r>
              <a:rPr lang="en-US" sz="2800">
                <a:solidFill>
                  <a:srgbClr val="FFFFFF"/>
                </a:solidFill>
                <a:latin typeface="Hack"/>
                <a:ea typeface="Hack"/>
                <a:cs typeface="Hack"/>
              </a:rPr>
              <a:t>Госсервисы</a:t>
            </a:r>
            <a:endParaRPr lang="en-US" sz="2800">
              <a:latin typeface="Hack"/>
              <a:ea typeface="Hack"/>
              <a:cs typeface="Hack"/>
            </a:endParaRPr>
          </a:p>
        </p:txBody>
      </p:sp>
      <p:sp>
        <p:nvSpPr>
          <p:cNvPr id="17" name="Text 12"/>
          <p:cNvSpPr/>
          <p:nvPr/>
        </p:nvSpPr>
        <p:spPr bwMode="auto">
          <a:xfrm>
            <a:off x="916584" y="5116461"/>
            <a:ext cx="5079702" cy="952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  <a:defRPr/>
            </a:pPr>
            <a:r>
              <a:rPr lang="en-US" sz="1600">
                <a:solidFill>
                  <a:srgbClr val="FFFFFF"/>
                </a:solidFill>
                <a:latin typeface="Hack"/>
                <a:ea typeface="Hack"/>
                <a:cs typeface="Hack"/>
              </a:rPr>
              <a:t>Анализ токенов ЕСИА и других государственных сервисов</a:t>
            </a:r>
            <a:endParaRPr lang="en-US" sz="1600">
              <a:latin typeface="Hack"/>
              <a:ea typeface="Hack"/>
              <a:cs typeface="Hack"/>
            </a:endParaRPr>
          </a:p>
        </p:txBody>
      </p:sp>
      <p:sp>
        <p:nvSpPr>
          <p:cNvPr id="18" name="Shape 13"/>
          <p:cNvSpPr/>
          <p:nvPr/>
        </p:nvSpPr>
        <p:spPr bwMode="auto">
          <a:xfrm>
            <a:off x="6195715" y="4021533"/>
            <a:ext cx="5298182" cy="2286099"/>
          </a:xfrm>
          <a:prstGeom prst="roundRect">
            <a:avLst>
              <a:gd name="adj" fmla="val 13089"/>
            </a:avLst>
          </a:prstGeom>
          <a:solidFill>
            <a:srgbClr val="00002E"/>
          </a:solidFill>
          <a:ln w="22860">
            <a:solidFill>
              <a:schemeClr val="bg2">
                <a:lumMod val="75000"/>
              </a:schemeClr>
            </a:solidFill>
            <a:prstDash val="solid"/>
          </a:ln>
        </p:spPr>
      </p:sp>
      <p:sp>
        <p:nvSpPr>
          <p:cNvPr id="21" name="Text 15"/>
          <p:cNvSpPr/>
          <p:nvPr/>
        </p:nvSpPr>
        <p:spPr bwMode="auto">
          <a:xfrm>
            <a:off x="6414194" y="4411348"/>
            <a:ext cx="2785622" cy="437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  <a:defRPr/>
            </a:pPr>
            <a:r>
              <a:rPr lang="en-US" sz="2800">
                <a:solidFill>
                  <a:srgbClr val="FFFFFF"/>
                </a:solidFill>
                <a:latin typeface="Hack"/>
                <a:ea typeface="Hack"/>
                <a:cs typeface="Hack"/>
              </a:rPr>
              <a:t>Мировые стандарты</a:t>
            </a:r>
            <a:endParaRPr lang="en-US" sz="2800">
              <a:latin typeface="Hack"/>
              <a:ea typeface="Hack"/>
              <a:cs typeface="Hack"/>
            </a:endParaRPr>
          </a:p>
        </p:txBody>
      </p:sp>
      <p:sp>
        <p:nvSpPr>
          <p:cNvPr id="22" name="Text 16"/>
          <p:cNvSpPr/>
          <p:nvPr/>
        </p:nvSpPr>
        <p:spPr bwMode="auto">
          <a:xfrm>
            <a:off x="6291738" y="5111278"/>
            <a:ext cx="5060650" cy="952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  <a:defRPr/>
            </a:pPr>
            <a:r>
              <a:rPr lang="en-US" sz="1550">
                <a:solidFill>
                  <a:srgbClr val="FFFFFF"/>
                </a:solidFill>
                <a:latin typeface="Hack"/>
                <a:ea typeface="Hack"/>
                <a:cs typeface="Hack"/>
              </a:rPr>
              <a:t>Интеграция с AWS, GitHub и другими глобальными платформами</a:t>
            </a:r>
            <a:endParaRPr lang="en-US" sz="1550">
              <a:latin typeface="Hack"/>
              <a:ea typeface="Hack"/>
              <a:cs typeface="Hack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512776" y="6427292"/>
            <a:ext cx="1679224" cy="409631"/>
          </a:xfrm>
          <a:prstGeom prst="rect">
            <a:avLst/>
          </a:prstGeom>
        </p:spPr>
      </p:pic>
      <p:sp>
        <p:nvSpPr>
          <p:cNvPr id="24" name="Прямоугольник 23"/>
          <p:cNvSpPr/>
          <p:nvPr/>
        </p:nvSpPr>
        <p:spPr bwMode="auto">
          <a:xfrm>
            <a:off x="10392938" y="0"/>
            <a:ext cx="1845848" cy="6968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5" name="Прямоугольник 24"/>
          <p:cNvSpPr/>
          <p:nvPr/>
        </p:nvSpPr>
        <p:spPr bwMode="auto">
          <a:xfrm>
            <a:off x="0" y="-1"/>
            <a:ext cx="546410" cy="16392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1422202" y="421978"/>
            <a:ext cx="4720233" cy="423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33"/>
              </a:lnSpc>
              <a:defRPr/>
            </a:pPr>
            <a:r>
              <a:rPr lang="en-US" sz="2650">
                <a:solidFill>
                  <a:srgbClr val="FFFFFF"/>
                </a:solidFill>
                <a:latin typeface="Nunito Semi Bold"/>
                <a:ea typeface="Nunito Semi Bold"/>
                <a:cs typeface="Nunito Semi Bold"/>
              </a:rPr>
              <a:t>Два формата использования</a:t>
            </a:r>
            <a:endParaRPr lang="en-US" sz="2650"/>
          </a:p>
        </p:txBody>
      </p:sp>
      <p:sp>
        <p:nvSpPr>
          <p:cNvPr id="4" name="Text 1"/>
          <p:cNvSpPr/>
          <p:nvPr/>
        </p:nvSpPr>
        <p:spPr bwMode="auto">
          <a:xfrm>
            <a:off x="1422202" y="5765503"/>
            <a:ext cx="1693367" cy="211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6"/>
              </a:lnSpc>
              <a:defRPr/>
            </a:pPr>
            <a:r>
              <a:rPr lang="en-US" sz="1350">
                <a:solidFill>
                  <a:srgbClr val="FFFFFF"/>
                </a:solidFill>
                <a:latin typeface="Nunito Semi Bold"/>
                <a:ea typeface="Nunito Semi Bold"/>
                <a:cs typeface="Nunito Semi Bold"/>
              </a:rPr>
              <a:t>CLI-приложение</a:t>
            </a:r>
            <a:endParaRPr lang="en-US" sz="1350"/>
          </a:p>
        </p:txBody>
      </p:sp>
      <p:sp>
        <p:nvSpPr>
          <p:cNvPr id="5" name="Text 2"/>
          <p:cNvSpPr/>
          <p:nvPr/>
        </p:nvSpPr>
        <p:spPr bwMode="auto">
          <a:xfrm>
            <a:off x="1422202" y="6039445"/>
            <a:ext cx="4608810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2"/>
              </a:lnSpc>
              <a:defRPr/>
            </a:pPr>
            <a:r>
              <a:rPr lang="en-US" sz="11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Мощный консольный инструмент для CI/CD процессов с цветным выводом и JSON/HTML отчетами</a:t>
            </a:r>
            <a:endParaRPr lang="en-US" sz="1150"/>
          </a:p>
        </p:txBody>
      </p:sp>
      <p:sp>
        <p:nvSpPr>
          <p:cNvPr id="7" name="Text 3"/>
          <p:cNvSpPr/>
          <p:nvPr/>
        </p:nvSpPr>
        <p:spPr bwMode="auto">
          <a:xfrm>
            <a:off x="6160790" y="5765602"/>
            <a:ext cx="1693367" cy="211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6"/>
              </a:lnSpc>
              <a:defRPr/>
            </a:pPr>
            <a:r>
              <a:rPr lang="en-US" sz="1350">
                <a:solidFill>
                  <a:srgbClr val="FFFFFF"/>
                </a:solidFill>
                <a:latin typeface="Nunito Semi Bold"/>
                <a:ea typeface="Nunito Semi Bold"/>
                <a:cs typeface="Nunito Semi Bold"/>
              </a:rPr>
              <a:t>Веб-интерфейс</a:t>
            </a:r>
            <a:endParaRPr lang="en-US" sz="1350"/>
          </a:p>
        </p:txBody>
      </p:sp>
      <p:sp>
        <p:nvSpPr>
          <p:cNvPr id="8" name="Text 4"/>
          <p:cNvSpPr/>
          <p:nvPr/>
        </p:nvSpPr>
        <p:spPr bwMode="auto">
          <a:xfrm>
            <a:off x="6160791" y="6039544"/>
            <a:ext cx="4608909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2"/>
              </a:lnSpc>
              <a:defRPr/>
            </a:pPr>
            <a:r>
              <a:rPr lang="en-US" sz="11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Полноценное Flask-приложение с интерактивным дашбордом через браузер</a:t>
            </a:r>
            <a:endParaRPr lang="en-US" sz="115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443412" y="6435922"/>
            <a:ext cx="1679224" cy="422077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 bwMode="auto">
          <a:xfrm>
            <a:off x="8947720" y="222184"/>
            <a:ext cx="795189" cy="62306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-2372" y="70442"/>
            <a:ext cx="12066768" cy="6787558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226356" y="3016194"/>
            <a:ext cx="1120843" cy="461524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8752" y="-228600"/>
            <a:ext cx="12183248" cy="7086600"/>
          </a:xfrm>
          <a:prstGeom prst="rect">
            <a:avLst/>
          </a:prstGeom>
          <a:noFill/>
        </p:spPr>
      </p:pic>
      <p:sp>
        <p:nvSpPr>
          <p:cNvPr id="20" name="Прямоугольник: скругленные углы 19"/>
          <p:cNvSpPr/>
          <p:nvPr/>
        </p:nvSpPr>
        <p:spPr bwMode="auto">
          <a:xfrm>
            <a:off x="127604" y="3291840"/>
            <a:ext cx="1285141" cy="609086"/>
          </a:xfrm>
          <a:prstGeom prst="roundRect">
            <a:avLst>
              <a:gd name="adj" fmla="val 28100"/>
            </a:avLst>
          </a:prstGeom>
          <a:solidFill>
            <a:srgbClr val="060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1" name="Прямоугольник: скругленные углы 20"/>
          <p:cNvSpPr/>
          <p:nvPr/>
        </p:nvSpPr>
        <p:spPr bwMode="auto">
          <a:xfrm>
            <a:off x="10769700" y="1094226"/>
            <a:ext cx="1120843" cy="396478"/>
          </a:xfrm>
          <a:prstGeom prst="roundRect">
            <a:avLst>
              <a:gd name="adj" fmla="val 28100"/>
            </a:avLst>
          </a:prstGeom>
          <a:solidFill>
            <a:srgbClr val="060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2" name="Прямоугольник: скругленные углы 21"/>
          <p:cNvSpPr/>
          <p:nvPr/>
        </p:nvSpPr>
        <p:spPr bwMode="auto">
          <a:xfrm>
            <a:off x="10943553" y="1614330"/>
            <a:ext cx="816647" cy="723901"/>
          </a:xfrm>
          <a:prstGeom prst="roundRect">
            <a:avLst>
              <a:gd name="adj" fmla="val 28100"/>
            </a:avLst>
          </a:prstGeom>
          <a:solidFill>
            <a:srgbClr val="060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3" name="Прямоугольник: скругленные углы 22"/>
          <p:cNvSpPr/>
          <p:nvPr/>
        </p:nvSpPr>
        <p:spPr bwMode="auto">
          <a:xfrm>
            <a:off x="10942170" y="2863046"/>
            <a:ext cx="1120843" cy="857587"/>
          </a:xfrm>
          <a:prstGeom prst="roundRect">
            <a:avLst>
              <a:gd name="adj" fmla="val 28100"/>
            </a:avLst>
          </a:prstGeom>
          <a:solidFill>
            <a:srgbClr val="060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4" name="Прямоугольник: скругленные углы 23"/>
          <p:cNvSpPr/>
          <p:nvPr/>
        </p:nvSpPr>
        <p:spPr bwMode="auto">
          <a:xfrm>
            <a:off x="10892753" y="4688935"/>
            <a:ext cx="1120843" cy="422077"/>
          </a:xfrm>
          <a:prstGeom prst="roundRect">
            <a:avLst>
              <a:gd name="adj" fmla="val 28100"/>
            </a:avLst>
          </a:prstGeom>
          <a:solidFill>
            <a:srgbClr val="060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" name="Прямоугольник: скругленные углы 16"/>
          <p:cNvSpPr/>
          <p:nvPr/>
        </p:nvSpPr>
        <p:spPr bwMode="auto">
          <a:xfrm>
            <a:off x="11760200" y="-50482"/>
            <a:ext cx="1120843" cy="396478"/>
          </a:xfrm>
          <a:prstGeom prst="roundRect">
            <a:avLst>
              <a:gd name="adj" fmla="val 50000"/>
            </a:avLst>
          </a:prstGeom>
          <a:solidFill>
            <a:srgbClr val="060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142435" y="4164492"/>
            <a:ext cx="2578053" cy="4615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 bwMode="auto">
          <a:xfrm>
            <a:off x="6160790" y="4267314"/>
            <a:ext cx="305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>
                <a:solidFill>
                  <a:srgbClr val="FFFFFF"/>
                </a:solidFill>
                <a:latin typeface="Hack"/>
                <a:ea typeface="Hack"/>
                <a:cs typeface="Hack"/>
              </a:rPr>
              <a:t>Веб-интерфейс(</a:t>
            </a:r>
            <a:r>
              <a:rPr lang="en-US">
                <a:solidFill>
                  <a:srgbClr val="FFFFFF"/>
                </a:solidFill>
                <a:latin typeface="Hack"/>
                <a:ea typeface="Hack"/>
                <a:cs typeface="Hack"/>
              </a:rPr>
              <a:t>Flask)</a:t>
            </a:r>
            <a:endParaRPr lang="ru-RU">
              <a:solidFill>
                <a:srgbClr val="FFFFFF"/>
              </a:solidFill>
              <a:latin typeface="Hack"/>
              <a:ea typeface="Hack"/>
              <a:cs typeface="H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-544828" y="3151303"/>
            <a:ext cx="6640828" cy="4215160"/>
          </a:xfrm>
          <a:prstGeom prst="rect">
            <a:avLst/>
          </a:prstGeom>
          <a:noFill/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455893" y="5933946"/>
            <a:ext cx="1635745" cy="924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6042104" y="1417388"/>
            <a:ext cx="6149896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br>
              <a:rPr lang="ru-RU" b="0">
                <a:solidFill>
                  <a:schemeClr val="bg1"/>
                </a:solidFill>
                <a:latin typeface="Hack"/>
                <a:ea typeface="Hack"/>
                <a:cs typeface="Hack"/>
              </a:rPr>
            </a:br>
            <a:r>
              <a:rPr lang="ru-RU" sz="3200" b="1">
                <a:solidFill>
                  <a:schemeClr val="bg1"/>
                </a:solidFill>
                <a:latin typeface="Hack"/>
                <a:ea typeface="Hack"/>
                <a:cs typeface="Hack"/>
              </a:rPr>
              <a:t>Заценко</a:t>
            </a:r>
            <a:r>
              <a:rPr lang="ru-RU" sz="3200" b="1">
                <a:solidFill>
                  <a:schemeClr val="bg1"/>
                </a:solidFill>
                <a:latin typeface="Hack"/>
                <a:ea typeface="Hack"/>
                <a:cs typeface="Hack"/>
              </a:rPr>
              <a:t> Захар</a:t>
            </a:r>
            <a:endParaRPr lang="ru-RU" b="0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br>
              <a:rPr lang="ru-RU" b="0">
                <a:solidFill>
                  <a:schemeClr val="bg1"/>
                </a:solidFill>
                <a:latin typeface="Hack"/>
                <a:ea typeface="Hack"/>
                <a:cs typeface="Hack"/>
              </a:rPr>
            </a:b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tg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: @aenty</a:t>
            </a:r>
            <a:endParaRPr lang="ru-RU" b="0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br>
              <a:rPr lang="ru-RU" b="0">
                <a:solidFill>
                  <a:schemeClr val="bg1"/>
                </a:solidFill>
                <a:latin typeface="Hack"/>
                <a:ea typeface="Hack"/>
                <a:cs typeface="Hack"/>
              </a:rPr>
            </a:br>
            <a:r>
              <a:rPr lang="ru-RU" sz="1800" b="0" i="0" u="none" strike="noStrike">
                <a:solidFill>
                  <a:schemeClr val="bg1"/>
                </a:solidFill>
                <a:latin typeface="Hack"/>
                <a:ea typeface="Hack"/>
                <a:cs typeface="Hack"/>
              </a:rPr>
              <a:t>телефон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: +7(985)966-24-92</a:t>
            </a:r>
            <a:endParaRPr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br>
              <a:rPr lang="ru-RU" b="0">
                <a:solidFill>
                  <a:schemeClr val="bg1"/>
                </a:solidFill>
                <a:latin typeface="Hack"/>
                <a:ea typeface="Hack"/>
                <a:cs typeface="Hack"/>
              </a:rPr>
            </a:br>
            <a:r>
              <a:rPr lang="ru-RU" sz="1800" b="0" i="0" u="none" strike="noStrike">
                <a:solidFill>
                  <a:schemeClr val="bg1"/>
                </a:solidFill>
                <a:latin typeface="Hack"/>
                <a:ea typeface="Hack"/>
                <a:cs typeface="Hack"/>
              </a:rPr>
              <a:t>mail</a:t>
            </a:r>
            <a:r>
              <a:rPr lang="en-US" sz="1800" b="0" i="0" u="none" strike="noStrike">
                <a:solidFill>
                  <a:schemeClr val="bg1"/>
                </a:solidFill>
                <a:latin typeface="Hack"/>
                <a:ea typeface="Hack"/>
                <a:cs typeface="Hack"/>
              </a:rPr>
              <a:t>: zahar.programmer@gmail.com</a:t>
            </a:r>
            <a:endParaRPr lang="ru-RU" b="0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defRPr/>
            </a:pPr>
            <a:br>
              <a:rPr lang="ru-RU"/>
            </a:br>
            <a:endParaRPr lang="ru-RU"/>
          </a:p>
        </p:txBody>
      </p:sp>
      <p:sp>
        <p:nvSpPr>
          <p:cNvPr id="7" name="TextBox 6"/>
          <p:cNvSpPr txBox="1"/>
          <p:nvPr/>
        </p:nvSpPr>
        <p:spPr bwMode="auto">
          <a:xfrm>
            <a:off x="4474427" y="2018370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0"/>
              <a:t> </a:t>
            </a:r>
            <a:endParaRPr lang="ru-RU"/>
          </a:p>
        </p:txBody>
      </p:sp>
      <p:sp>
        <p:nvSpPr>
          <p:cNvPr id="9" name="TextBox 8"/>
          <p:cNvSpPr txBox="1"/>
          <p:nvPr/>
        </p:nvSpPr>
        <p:spPr bwMode="auto">
          <a:xfrm>
            <a:off x="2799807" y="3311067"/>
            <a:ext cx="6149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0"/>
              <a:t> </a:t>
            </a:r>
            <a:endParaRPr lang="ru-RU"/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 rot="10800000">
            <a:off x="5253904" y="4517107"/>
            <a:ext cx="6640828" cy="4215160"/>
          </a:xfrm>
          <a:prstGeom prst="rect">
            <a:avLst/>
          </a:prstGeom>
          <a:noFill/>
        </p:spPr>
      </p:pic>
      <p:sp>
        <p:nvSpPr>
          <p:cNvPr id="11" name="Блок-схема: узел 10"/>
          <p:cNvSpPr/>
          <p:nvPr/>
        </p:nvSpPr>
        <p:spPr bwMode="auto">
          <a:xfrm>
            <a:off x="3364437" y="2018370"/>
            <a:ext cx="2281707" cy="2281707"/>
          </a:xfrm>
          <a:prstGeom prst="flowChartConnector">
            <a:avLst/>
          </a:prstGeom>
          <a:blipFill>
            <a:blip r:embed="rId5"/>
            <a:srcRect l="0" t="0" r="-9909" b="0"/>
            <a:stretch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" name="TextBox 11"/>
          <p:cNvSpPr txBox="1"/>
          <p:nvPr/>
        </p:nvSpPr>
        <p:spPr bwMode="auto">
          <a:xfrm>
            <a:off x="6038385" y="3915160"/>
            <a:ext cx="38380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role : 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TeamLead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,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Infrastructure 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engenireing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,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Python </a:t>
            </a:r>
            <a:r>
              <a:rPr lang="ru-RU">
                <a:solidFill>
                  <a:schemeClr val="bg1"/>
                </a:solidFill>
                <a:latin typeface="Hack"/>
                <a:ea typeface="Hack"/>
                <a:cs typeface="Hack"/>
              </a:rPr>
              <a:t>разработка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,</a:t>
            </a:r>
            <a:r>
              <a:rPr lang="ru-RU">
                <a:solidFill>
                  <a:schemeClr val="bg1"/>
                </a:solidFill>
                <a:latin typeface="Hack"/>
                <a:ea typeface="Hack"/>
                <a:cs typeface="Hack"/>
              </a:rPr>
              <a:t> 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main 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codder</a:t>
            </a:r>
            <a:endParaRPr lang="ru-RU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defRPr/>
            </a:pPr>
            <a:r>
              <a:rPr lang="ru-RU">
                <a:solidFill>
                  <a:schemeClr val="bg1"/>
                </a:solidFill>
                <a:latin typeface="Hack"/>
                <a:ea typeface="Hack"/>
                <a:cs typeface="Hack"/>
              </a:rPr>
              <a:t>  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 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   </a:t>
            </a:r>
            <a:endParaRPr lang="ru-RU">
              <a:solidFill>
                <a:schemeClr val="bg1"/>
              </a:solidFill>
              <a:latin typeface="Hack"/>
              <a:ea typeface="Hack"/>
              <a:cs typeface="Hack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5791201" y="800101"/>
            <a:ext cx="5173326" cy="638445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-544828" y="2969397"/>
            <a:ext cx="6640828" cy="4215160"/>
          </a:xfrm>
          <a:prstGeom prst="rect">
            <a:avLst/>
          </a:prstGeom>
          <a:noFill/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455893" y="5933946"/>
            <a:ext cx="1635745" cy="924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6175497" y="1492711"/>
            <a:ext cx="6149896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br>
              <a:rPr lang="ru-RU" b="0">
                <a:solidFill>
                  <a:schemeClr val="bg1"/>
                </a:solidFill>
                <a:latin typeface="Hack"/>
                <a:ea typeface="Hack"/>
                <a:cs typeface="Hack"/>
              </a:rPr>
            </a:br>
            <a:r>
              <a:rPr lang="ru-RU" sz="3200" b="1">
                <a:solidFill>
                  <a:schemeClr val="bg1"/>
                </a:solidFill>
                <a:latin typeface="Hack"/>
                <a:ea typeface="Hack"/>
                <a:cs typeface="Hack"/>
              </a:rPr>
              <a:t>Шипилов</a:t>
            </a:r>
            <a:r>
              <a:rPr lang="ru-RU" sz="3200" b="1" i="0" u="none" strike="noStrike">
                <a:solidFill>
                  <a:schemeClr val="bg1"/>
                </a:solidFill>
                <a:latin typeface="Hack"/>
                <a:ea typeface="Hack"/>
                <a:cs typeface="Hack"/>
              </a:rPr>
              <a:t> Максим</a:t>
            </a:r>
            <a:endParaRPr lang="ru-RU" b="0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br>
              <a:rPr lang="ru-RU" b="0">
                <a:solidFill>
                  <a:schemeClr val="bg1"/>
                </a:solidFill>
                <a:latin typeface="Hack"/>
                <a:ea typeface="Hack"/>
                <a:cs typeface="Hack"/>
              </a:rPr>
            </a:b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tg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: @kelchers</a:t>
            </a:r>
            <a:endParaRPr lang="ru-RU" b="0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br>
              <a:rPr lang="ru-RU" b="0">
                <a:solidFill>
                  <a:schemeClr val="bg1"/>
                </a:solidFill>
                <a:latin typeface="Hack"/>
                <a:ea typeface="Hack"/>
                <a:cs typeface="Hack"/>
              </a:rPr>
            </a:br>
            <a:r>
              <a:rPr lang="ru-RU" sz="1800" b="0" i="0" u="none" strike="noStrike">
                <a:solidFill>
                  <a:schemeClr val="bg1"/>
                </a:solidFill>
                <a:latin typeface="Hack"/>
                <a:ea typeface="Hack"/>
                <a:cs typeface="Hack"/>
              </a:rPr>
              <a:t>телефон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: +7(915)-268-7000</a:t>
            </a:r>
            <a:endParaRPr lang="ru-RU" b="0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br>
              <a:rPr lang="ru-RU" b="0">
                <a:solidFill>
                  <a:schemeClr val="bg1"/>
                </a:solidFill>
                <a:latin typeface="Hack"/>
                <a:ea typeface="Hack"/>
                <a:cs typeface="Hack"/>
              </a:rPr>
            </a:br>
            <a:r>
              <a:rPr lang="ru-RU" sz="1800" b="0" i="0" u="none" strike="noStrike">
                <a:solidFill>
                  <a:schemeClr val="bg1"/>
                </a:solidFill>
                <a:latin typeface="Hack"/>
                <a:ea typeface="Hack"/>
                <a:cs typeface="Hack"/>
              </a:rPr>
              <a:t>mail</a:t>
            </a:r>
            <a:r>
              <a:rPr lang="en-US" sz="1800" b="0" i="0" u="none" strike="noStrike">
                <a:solidFill>
                  <a:schemeClr val="bg1"/>
                </a:solidFill>
                <a:latin typeface="Hack"/>
                <a:ea typeface="Hack"/>
                <a:cs typeface="Hack"/>
              </a:rPr>
              <a:t>: kelchersub@gmail.com</a:t>
            </a:r>
            <a:endParaRPr lang="ru-RU" b="0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defRPr/>
            </a:pPr>
            <a:br>
              <a:rPr lang="ru-RU"/>
            </a:br>
            <a:endParaRPr lang="ru-RU"/>
          </a:p>
        </p:txBody>
      </p:sp>
      <p:sp>
        <p:nvSpPr>
          <p:cNvPr id="7" name="TextBox 6"/>
          <p:cNvSpPr txBox="1"/>
          <p:nvPr/>
        </p:nvSpPr>
        <p:spPr bwMode="auto">
          <a:xfrm>
            <a:off x="4474427" y="2018370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0"/>
              <a:t> </a:t>
            </a:r>
            <a:endParaRPr lang="ru-RU"/>
          </a:p>
        </p:txBody>
      </p:sp>
      <p:sp>
        <p:nvSpPr>
          <p:cNvPr id="9" name="TextBox 8"/>
          <p:cNvSpPr txBox="1"/>
          <p:nvPr/>
        </p:nvSpPr>
        <p:spPr bwMode="auto">
          <a:xfrm>
            <a:off x="2963437" y="3300090"/>
            <a:ext cx="6149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0"/>
              <a:t> </a:t>
            </a:r>
            <a:endParaRPr lang="ru-RU"/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 rot="10800000">
            <a:off x="5104299" y="4288393"/>
            <a:ext cx="6640828" cy="4215160"/>
          </a:xfrm>
          <a:prstGeom prst="rect">
            <a:avLst/>
          </a:prstGeom>
          <a:noFill/>
        </p:spPr>
      </p:pic>
      <p:sp>
        <p:nvSpPr>
          <p:cNvPr id="14" name="Блок-схема: узел 13"/>
          <p:cNvSpPr/>
          <p:nvPr/>
        </p:nvSpPr>
        <p:spPr bwMode="auto">
          <a:xfrm>
            <a:off x="3333573" y="1828542"/>
            <a:ext cx="2281707" cy="2281707"/>
          </a:xfrm>
          <a:prstGeom prst="flowChartConnector">
            <a:avLst/>
          </a:prstGeom>
          <a:blipFill>
            <a:blip r:embed="rId5"/>
            <a:srcRect l="0" t="0" r="-9909" b="0"/>
            <a:stretch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5" name="TextBox 14"/>
          <p:cNvSpPr txBox="1"/>
          <p:nvPr/>
        </p:nvSpPr>
        <p:spPr bwMode="auto">
          <a:xfrm>
            <a:off x="6191466" y="4044184"/>
            <a:ext cx="3838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role : </a:t>
            </a:r>
            <a:r>
              <a:rPr lang="ru-RU">
                <a:solidFill>
                  <a:schemeClr val="bg1"/>
                </a:solidFill>
                <a:latin typeface="Hack"/>
                <a:ea typeface="Hack"/>
                <a:cs typeface="Hack"/>
              </a:rPr>
              <a:t>Дизайн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, Front, 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BackEnd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, Python </a:t>
            </a:r>
            <a:r>
              <a:rPr lang="ru-RU">
                <a:solidFill>
                  <a:schemeClr val="bg1"/>
                </a:solidFill>
                <a:latin typeface="Hack"/>
                <a:ea typeface="Hack"/>
                <a:cs typeface="Hack"/>
              </a:rPr>
              <a:t>разработчик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, 	</a:t>
            </a:r>
            <a:r>
              <a:rPr lang="ru-RU">
                <a:solidFill>
                  <a:schemeClr val="bg1"/>
                </a:solidFill>
                <a:latin typeface="Hack"/>
                <a:ea typeface="Hack"/>
                <a:cs typeface="Hack"/>
              </a:rPr>
              <a:t> </a:t>
            </a:r>
            <a:endParaRPr/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5845005" y="1141821"/>
            <a:ext cx="4455049" cy="604273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57540" y="2821016"/>
            <a:ext cx="6640828" cy="4215160"/>
          </a:xfrm>
          <a:prstGeom prst="rect">
            <a:avLst/>
          </a:prstGeom>
          <a:noFill/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455893" y="5933946"/>
            <a:ext cx="1635745" cy="924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6175497" y="1492711"/>
            <a:ext cx="6149896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br>
              <a:rPr lang="ru-RU" b="0">
                <a:solidFill>
                  <a:schemeClr val="bg1"/>
                </a:solidFill>
                <a:latin typeface="Hack"/>
                <a:ea typeface="Hack"/>
                <a:cs typeface="Hack"/>
              </a:rPr>
            </a:br>
            <a:r>
              <a:rPr lang="ru-RU" sz="3200" b="1">
                <a:solidFill>
                  <a:schemeClr val="bg1"/>
                </a:solidFill>
                <a:latin typeface="Hack"/>
                <a:ea typeface="Hack"/>
                <a:cs typeface="Hack"/>
              </a:rPr>
              <a:t>Айвазян</a:t>
            </a:r>
            <a:r>
              <a:rPr lang="ru-RU" sz="3200" b="1" i="0" u="none" strike="noStrike">
                <a:solidFill>
                  <a:schemeClr val="bg1"/>
                </a:solidFill>
                <a:latin typeface="Hack"/>
                <a:ea typeface="Hack"/>
                <a:cs typeface="Hack"/>
              </a:rPr>
              <a:t> Лёва</a:t>
            </a:r>
            <a:endParaRPr lang="ru-RU" b="0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br>
              <a:rPr lang="ru-RU" b="0">
                <a:solidFill>
                  <a:schemeClr val="bg1"/>
                </a:solidFill>
                <a:latin typeface="Hack"/>
                <a:ea typeface="Hack"/>
                <a:cs typeface="Hack"/>
              </a:rPr>
            </a:b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tg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: @levvaaivazian</a:t>
            </a:r>
            <a:endParaRPr lang="ru-RU" b="0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br>
              <a:rPr lang="ru-RU" b="0">
                <a:solidFill>
                  <a:schemeClr val="bg1"/>
                </a:solidFill>
                <a:latin typeface="Hack"/>
                <a:ea typeface="Hack"/>
                <a:cs typeface="Hack"/>
              </a:rPr>
            </a:br>
            <a:r>
              <a:rPr lang="ru-RU" sz="1800" b="0" i="0" u="none" strike="noStrike">
                <a:solidFill>
                  <a:schemeClr val="bg1"/>
                </a:solidFill>
                <a:latin typeface="Hack"/>
                <a:ea typeface="Hack"/>
                <a:cs typeface="Hack"/>
              </a:rPr>
              <a:t>телефон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: +7 900 290 48 70</a:t>
            </a:r>
            <a:endParaRPr lang="ru-RU" b="0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br>
              <a:rPr lang="ru-RU" b="0">
                <a:solidFill>
                  <a:schemeClr val="bg1"/>
                </a:solidFill>
                <a:latin typeface="Hack"/>
                <a:ea typeface="Hack"/>
                <a:cs typeface="Hack"/>
              </a:rPr>
            </a:br>
            <a:r>
              <a:rPr lang="ru-RU" sz="1800" b="0" i="0" u="none" strike="noStrike">
                <a:solidFill>
                  <a:schemeClr val="bg1"/>
                </a:solidFill>
                <a:latin typeface="Hack"/>
                <a:ea typeface="Hack"/>
                <a:cs typeface="Hack"/>
              </a:rPr>
              <a:t>mail</a:t>
            </a:r>
            <a:r>
              <a:rPr lang="en-US" sz="1800" b="0" i="0" u="none" strike="noStrike">
                <a:solidFill>
                  <a:schemeClr val="bg1"/>
                </a:solidFill>
                <a:latin typeface="Hack"/>
                <a:ea typeface="Hack"/>
                <a:cs typeface="Hack"/>
              </a:rPr>
              <a:t>: levvaaivazian@yandex.ru</a:t>
            </a:r>
            <a:endParaRPr lang="ru-RU" b="0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defRPr/>
            </a:pPr>
            <a:br>
              <a:rPr lang="ru-RU"/>
            </a:br>
            <a:endParaRPr lang="ru-RU"/>
          </a:p>
        </p:txBody>
      </p:sp>
      <p:sp>
        <p:nvSpPr>
          <p:cNvPr id="7" name="TextBox 6"/>
          <p:cNvSpPr txBox="1"/>
          <p:nvPr/>
        </p:nvSpPr>
        <p:spPr bwMode="auto">
          <a:xfrm>
            <a:off x="3567602" y="2014920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0"/>
              <a:t> </a:t>
            </a:r>
            <a:endParaRPr lang="ru-RU"/>
          </a:p>
        </p:txBody>
      </p:sp>
      <p:sp>
        <p:nvSpPr>
          <p:cNvPr id="9" name="TextBox 8"/>
          <p:cNvSpPr txBox="1"/>
          <p:nvPr/>
        </p:nvSpPr>
        <p:spPr bwMode="auto">
          <a:xfrm>
            <a:off x="2963437" y="3300090"/>
            <a:ext cx="6149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0"/>
              <a:t> </a:t>
            </a:r>
            <a:endParaRPr lang="ru-RU"/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 rot="10800000">
            <a:off x="5930031" y="4473749"/>
            <a:ext cx="6640828" cy="4215160"/>
          </a:xfrm>
          <a:prstGeom prst="rect">
            <a:avLst/>
          </a:prstGeom>
          <a:noFill/>
        </p:spPr>
      </p:pic>
      <p:sp>
        <p:nvSpPr>
          <p:cNvPr id="12" name="Блок-схема: узел 11"/>
          <p:cNvSpPr/>
          <p:nvPr/>
        </p:nvSpPr>
        <p:spPr bwMode="auto">
          <a:xfrm>
            <a:off x="3430040" y="1798173"/>
            <a:ext cx="2281707" cy="2281707"/>
          </a:xfrm>
          <a:prstGeom prst="flowChartConnector">
            <a:avLst/>
          </a:prstGeom>
          <a:blipFill>
            <a:blip r:embed="rId5"/>
            <a:srcRect l="0" t="0" r="-9909" b="0"/>
            <a:stretch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4" name="TextBox 13"/>
          <p:cNvSpPr txBox="1"/>
          <p:nvPr/>
        </p:nvSpPr>
        <p:spPr bwMode="auto">
          <a:xfrm>
            <a:off x="6191466" y="4044184"/>
            <a:ext cx="3838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role :</a:t>
            </a:r>
            <a:r>
              <a:rPr lang="ru-RU">
                <a:solidFill>
                  <a:schemeClr val="bg1"/>
                </a:solidFill>
                <a:latin typeface="Hack"/>
                <a:ea typeface="Hack"/>
                <a:cs typeface="Hack"/>
              </a:rPr>
              <a:t> 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ML , LLM , </a:t>
            </a:r>
            <a:r>
              <a:rPr lang="ru-RU">
                <a:solidFill>
                  <a:schemeClr val="bg1"/>
                </a:solidFill>
                <a:latin typeface="Hack"/>
                <a:ea typeface="Hack"/>
                <a:cs typeface="Hack"/>
              </a:rPr>
              <a:t>индуктивное расширение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, </a:t>
            </a:r>
            <a:endParaRPr lang="ru-RU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defRPr/>
            </a:pPr>
            <a:r>
              <a:rPr lang="ru-RU">
                <a:solidFill>
                  <a:schemeClr val="bg1"/>
                </a:solidFill>
                <a:latin typeface="Hack"/>
                <a:ea typeface="Hack"/>
                <a:cs typeface="Hack"/>
              </a:rPr>
              <a:t>  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 API creator </a:t>
            </a:r>
            <a:endParaRPr lang="ru-RU">
              <a:solidFill>
                <a:schemeClr val="bg1"/>
              </a:solidFill>
              <a:latin typeface="Hack"/>
              <a:ea typeface="Hack"/>
              <a:cs typeface="Hack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5845005" y="762001"/>
            <a:ext cx="4734095" cy="642255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-163841" y="3021746"/>
            <a:ext cx="6640828" cy="4215160"/>
          </a:xfrm>
          <a:prstGeom prst="rect">
            <a:avLst/>
          </a:prstGeom>
          <a:noFill/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455893" y="5933946"/>
            <a:ext cx="1635745" cy="924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6175497" y="1492711"/>
            <a:ext cx="6149896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br>
              <a:rPr lang="ru-RU" b="0">
                <a:solidFill>
                  <a:schemeClr val="bg1"/>
                </a:solidFill>
                <a:latin typeface="Hack"/>
                <a:ea typeface="Hack"/>
                <a:cs typeface="Hack"/>
              </a:rPr>
            </a:br>
            <a:r>
              <a:rPr lang="ru-RU" sz="3200" b="1">
                <a:solidFill>
                  <a:schemeClr val="bg1"/>
                </a:solidFill>
                <a:latin typeface="Hack"/>
                <a:ea typeface="Hack"/>
                <a:cs typeface="Hack"/>
              </a:rPr>
              <a:t>Степанов Даниил </a:t>
            </a:r>
            <a:endParaRPr lang="ru-RU" b="0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br>
              <a:rPr lang="ru-RU" b="0">
                <a:solidFill>
                  <a:schemeClr val="bg1"/>
                </a:solidFill>
                <a:latin typeface="Hack"/>
                <a:ea typeface="Hack"/>
                <a:cs typeface="Hack"/>
              </a:rPr>
            </a:b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tg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: @strongcoder8</a:t>
            </a:r>
            <a:endParaRPr lang="ru-RU" b="0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br>
              <a:rPr lang="ru-RU" b="0">
                <a:solidFill>
                  <a:schemeClr val="bg1"/>
                </a:solidFill>
                <a:latin typeface="Hack"/>
                <a:ea typeface="Hack"/>
                <a:cs typeface="Hack"/>
              </a:rPr>
            </a:br>
            <a:r>
              <a:rPr lang="ru-RU" sz="1800" b="0" i="0" u="none" strike="noStrike">
                <a:solidFill>
                  <a:schemeClr val="bg1"/>
                </a:solidFill>
                <a:latin typeface="Hack"/>
                <a:ea typeface="Hack"/>
                <a:cs typeface="Hack"/>
              </a:rPr>
              <a:t>телефон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: +7 905 353 74 36</a:t>
            </a:r>
            <a:endParaRPr lang="ru-RU" b="0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br>
              <a:rPr lang="ru-RU" b="0">
                <a:solidFill>
                  <a:schemeClr val="bg1"/>
                </a:solidFill>
                <a:latin typeface="Hack"/>
                <a:ea typeface="Hack"/>
                <a:cs typeface="Hack"/>
              </a:rPr>
            </a:br>
            <a:r>
              <a:rPr lang="ru-RU" sz="1800" b="0" i="0" u="none" strike="noStrike">
                <a:solidFill>
                  <a:schemeClr val="bg1"/>
                </a:solidFill>
                <a:latin typeface="Hack"/>
                <a:ea typeface="Hack"/>
                <a:cs typeface="Hack"/>
              </a:rPr>
              <a:t>mail</a:t>
            </a:r>
            <a:r>
              <a:rPr lang="en-US" sz="1800" b="0" i="0" u="none" strike="noStrike">
                <a:solidFill>
                  <a:schemeClr val="bg1"/>
                </a:solidFill>
                <a:latin typeface="Hack"/>
                <a:ea typeface="Hack"/>
                <a:cs typeface="Hack"/>
              </a:rPr>
              <a:t>: strongcoder@gmail.com</a:t>
            </a:r>
            <a:endParaRPr lang="ru-RU" b="0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defRPr/>
            </a:pPr>
            <a:br>
              <a:rPr lang="ru-RU"/>
            </a:br>
            <a:endParaRPr lang="ru-RU"/>
          </a:p>
        </p:txBody>
      </p:sp>
      <p:sp>
        <p:nvSpPr>
          <p:cNvPr id="7" name="TextBox 6"/>
          <p:cNvSpPr txBox="1"/>
          <p:nvPr/>
        </p:nvSpPr>
        <p:spPr bwMode="auto">
          <a:xfrm>
            <a:off x="4474427" y="2018370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0"/>
              <a:t> </a:t>
            </a:r>
            <a:endParaRPr lang="ru-RU"/>
          </a:p>
        </p:txBody>
      </p:sp>
      <p:sp>
        <p:nvSpPr>
          <p:cNvPr id="9" name="TextBox 8"/>
          <p:cNvSpPr txBox="1"/>
          <p:nvPr/>
        </p:nvSpPr>
        <p:spPr bwMode="auto">
          <a:xfrm>
            <a:off x="2963437" y="3300090"/>
            <a:ext cx="6149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0"/>
              <a:t> </a:t>
            </a:r>
            <a:endParaRPr lang="ru-RU"/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 rot="10800000">
            <a:off x="5792918" y="4750420"/>
            <a:ext cx="6640828" cy="4215160"/>
          </a:xfrm>
          <a:prstGeom prst="rect">
            <a:avLst/>
          </a:prstGeom>
          <a:noFill/>
        </p:spPr>
      </p:pic>
      <p:sp>
        <p:nvSpPr>
          <p:cNvPr id="12" name="Блок-схема: узел 11"/>
          <p:cNvSpPr/>
          <p:nvPr/>
        </p:nvSpPr>
        <p:spPr bwMode="auto">
          <a:xfrm>
            <a:off x="3365334" y="1748722"/>
            <a:ext cx="2281707" cy="2281707"/>
          </a:xfrm>
          <a:prstGeom prst="flowChartConnector">
            <a:avLst/>
          </a:prstGeom>
          <a:blipFill>
            <a:blip r:embed="rId5"/>
            <a:srcRect l="0" t="0" r="-9909" b="0"/>
            <a:stretch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4" name="TextBox 13"/>
          <p:cNvSpPr txBox="1"/>
          <p:nvPr/>
        </p:nvSpPr>
        <p:spPr bwMode="auto">
          <a:xfrm>
            <a:off x="6175497" y="4030429"/>
            <a:ext cx="63478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role :</a:t>
            </a:r>
            <a:r>
              <a:rPr lang="ru-RU">
                <a:solidFill>
                  <a:schemeClr val="bg1"/>
                </a:solidFill>
                <a:latin typeface="Hack"/>
                <a:ea typeface="Hack"/>
                <a:cs typeface="Hack"/>
              </a:rPr>
              <a:t> 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ML , LLM , </a:t>
            </a:r>
            <a:endParaRPr/>
          </a:p>
          <a:p>
            <a:pPr>
              <a:defRPr/>
            </a:pPr>
            <a:r>
              <a:rPr lang="ru-RU">
                <a:solidFill>
                  <a:schemeClr val="bg1"/>
                </a:solidFill>
                <a:latin typeface="Hack"/>
                <a:ea typeface="Hack"/>
                <a:cs typeface="Hack"/>
              </a:rPr>
              <a:t>индуктивное расширение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, </a:t>
            </a:r>
            <a:endParaRPr lang="ru-RU">
              <a:solidFill>
                <a:schemeClr val="bg1"/>
              </a:solidFill>
              <a:latin typeface="Hack"/>
              <a:ea typeface="Hack"/>
              <a:cs typeface="Hack"/>
            </a:endParaRPr>
          </a:p>
          <a:p>
            <a:pPr>
              <a:defRPr/>
            </a:pPr>
            <a:r>
              <a:rPr lang="ru-RU">
                <a:solidFill>
                  <a:schemeClr val="bg1"/>
                </a:solidFill>
                <a:latin typeface="Hack"/>
                <a:ea typeface="Hack"/>
                <a:cs typeface="Hack"/>
              </a:rPr>
              <a:t>  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Python stack, </a:t>
            </a:r>
            <a:r>
              <a:rPr lang="ru-RU">
                <a:solidFill>
                  <a:schemeClr val="bg1"/>
                </a:solidFill>
                <a:latin typeface="Hack"/>
                <a:ea typeface="Hack"/>
                <a:cs typeface="Hack"/>
              </a:rPr>
              <a:t>подключение модели</a:t>
            </a:r>
            <a:endParaRPr/>
          </a:p>
          <a:p>
            <a:pPr>
              <a:defRPr/>
            </a:pPr>
            <a:r>
              <a:rPr lang="ru-RU">
                <a:solidFill>
                  <a:schemeClr val="bg1"/>
                </a:solidFill>
                <a:latin typeface="Hack"/>
                <a:ea typeface="Hack"/>
                <a:cs typeface="Hack"/>
              </a:rPr>
              <a:t>  к </a:t>
            </a:r>
            <a:r>
              <a:rPr lang="en-US">
                <a:solidFill>
                  <a:schemeClr val="bg1"/>
                </a:solidFill>
                <a:latin typeface="Hack"/>
                <a:ea typeface="Hack"/>
                <a:cs typeface="Hack"/>
              </a:rPr>
              <a:t>API, BIG Data</a:t>
            </a:r>
            <a:endParaRPr lang="ru-RU">
              <a:solidFill>
                <a:schemeClr val="bg1"/>
              </a:solidFill>
              <a:latin typeface="Hack"/>
              <a:ea typeface="Hack"/>
              <a:cs typeface="Hack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5702528" y="722296"/>
            <a:ext cx="5394495" cy="630825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ONLYOFFICE/7.3.3.0</Application>
  <DocSecurity>0</DocSecurity>
  <PresentationFormat>Широкоэкранный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Max Shipilov</dc:creator>
  <cp:keywords/>
  <dc:description/>
  <dc:identifier/>
  <dc:language/>
  <cp:lastModifiedBy>Guset_598</cp:lastModifiedBy>
  <cp:revision>41</cp:revision>
  <dcterms:created xsi:type="dcterms:W3CDTF">2026-03-05T19:00:44Z</dcterms:created>
  <dcterms:modified xsi:type="dcterms:W3CDTF">2026-03-08T07:20:49Z</dcterms:modified>
  <cp:category/>
  <cp:contentStatus/>
  <cp:version/>
</cp:coreProperties>
</file>