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1" r:id="rId4"/>
    <p:sldId id="270" r:id="rId5"/>
    <p:sldId id="268" r:id="rId6"/>
    <p:sldId id="258" r:id="rId7"/>
    <p:sldId id="271" r:id="rId8"/>
    <p:sldId id="272" r:id="rId9"/>
    <p:sldId id="262" r:id="rId10"/>
    <p:sldId id="266" r:id="rId11"/>
    <p:sldId id="259" r:id="rId12"/>
    <p:sldId id="273" r:id="rId13"/>
    <p:sldId id="280" r:id="rId14"/>
    <p:sldId id="278" r:id="rId15"/>
    <p:sldId id="27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ED56"/>
    <a:srgbClr val="4ACE58"/>
    <a:srgbClr val="060B26"/>
    <a:srgbClr val="00002E"/>
    <a:srgbClr val="7AE659"/>
    <a:srgbClr val="FFFFFF"/>
    <a:srgbClr val="1A1927"/>
    <a:srgbClr val="1819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1" autoAdjust="0"/>
    <p:restoredTop sz="94660"/>
  </p:normalViewPr>
  <p:slideViewPr>
    <p:cSldViewPr snapToGrid="0">
      <p:cViewPr>
        <p:scale>
          <a:sx n="50" d="100"/>
          <a:sy n="50" d="100"/>
        </p:scale>
        <p:origin x="32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E0CF5-C744-483B-AE4D-45FA875DDEA0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A6688-0E72-4A33-8219-39D077BB1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091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FE3D1-90B4-4523-B69E-E7E294E7F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A720F6-D692-45C0-9024-646E8F82D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75FF2B-767B-44BC-A7B3-74F515512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419025-9200-4FFC-9A06-0852364E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65FCAB-71A3-449F-B341-4468281B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611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64924-96B8-4EED-9F38-EE7A6B41A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3B6F02-D556-4F9D-B52D-13688BF3D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64DD9C-7E52-4D1E-8E1A-7AAB6406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B86157-0000-4685-AD47-A7EE7CAD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82BD50-C814-4F68-BBDD-97DE7185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09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18109-4574-4CB7-B836-DA57DFA03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38A9D6A-85CD-4CBF-BEAD-6DD60E784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74C1D6-3B26-4A9D-830F-26ABE50FE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A30CF2-249F-43AB-91A4-087A33AE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AD8171-6DCD-4052-A364-11DA0702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49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C96AFE-CE98-447D-B2CC-AFFD50442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49A9C9-0E8B-415E-AE44-8D324BE39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5AD64E-1ABC-47BE-90E3-DFB7BF1B5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29B733-9F06-40F7-94EA-998E24B5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C76043-073B-4681-BEF1-30359D157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BECDED-6A32-44C7-B68D-2476596A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773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33723-010F-4481-AFC6-E651874C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4349B6-2104-413B-B444-FDFBC049A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57FF4C-EF15-4D63-904E-2A0B174B8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17D9A8-D76E-4CFA-97D6-478227E1B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F863AD3-7FB8-4F10-9396-D28B59B719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79ED012-5437-45AE-B8F3-5E59948C5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0933E15-E185-4C92-A4D1-0516A771B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2E993C-88B5-4242-A99E-7840E8C8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87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B412AB-955A-4121-83CA-DA94AE7E8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7F3024-6984-48BF-B2B5-262996D6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C1D091-123B-4D41-B9D3-993859D9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25A3BA7-86B8-454B-9F12-75B419A6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7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F3719DC-0163-4706-9EC0-8768C627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46EEFB7-D012-45A7-B23D-2C9E9475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8D179D-ECBB-40E3-80D2-A704A2A4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397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DABD7-E425-443B-90A5-0D2DEAE54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122CC5-FE40-49A9-A1AF-AA84C3F8D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329A45-73CA-4DE1-849D-044E37BAF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D70E7F-2C3F-4B9E-B80E-90F244BB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A414F6-88FE-4CDE-A450-8113E6A4E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B4EC90-90CB-4E9B-A207-D41D8358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71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BAA39-CD23-476D-87BC-7FE3EA97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9269CE9-0A76-4EFE-B5CA-B1EA9FF8A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532995-6AA8-448C-9D13-F6376B90D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E3D695-FB70-44E7-925E-77695DD29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6C0135-E87F-421D-8C43-E2C52093C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9C134A-F74C-4478-8442-D858281D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82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60C55-41C3-46F1-9E73-26801829E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EB6EB6-5875-4D82-8A16-F040CC348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6E35E4-9658-49E2-B5D5-B3BAF4DC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A57862-8031-43E5-9AA7-6F8BC6CE6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2B2898-F6B9-4064-B311-B9E725A6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717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702EE8-6699-4E1F-AA7A-770CC4ACC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25AF00-029E-41CB-8B5C-278E8DAB1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9EED67-C9EC-437B-BA90-64FD5725B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74E8AF-8F93-42C3-9EA4-3CA07812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D9DD57-173A-4EBD-9F92-FAC9C99E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428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73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43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06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32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1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93D20-9F8A-4EA9-8727-9403120B1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3625EB-4210-4F0F-83D3-93DEE0F25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EDF22A-7434-4F1C-BD7C-B66D39A38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D4434-C2D8-40E0-A3C8-BE2A7278C9E4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110181-B8AF-4A39-A224-358FE3E93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C1CAF3-D47F-46C1-BD6C-5F6139D52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7F023-15DF-41A0-A847-1C34D0EA65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23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6" r:id="rId14"/>
    <p:sldLayoutId id="2147483668" r:id="rId15"/>
    <p:sldLayoutId id="214748366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svg"/><Relationship Id="rId5" Type="http://schemas.openxmlformats.org/officeDocument/2006/relationships/image" Target="../media/image14.pn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8.jp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jp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0.jp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1.jp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960FE9-EB83-4198-971B-7EDE4C431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9555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BE54500-9EC0-48C6-A788-A35060D6D7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1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 trans="1000" intensity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" r="42921" b="46632"/>
          <a:stretch/>
        </p:blipFill>
        <p:spPr>
          <a:xfrm>
            <a:off x="1" y="524598"/>
            <a:ext cx="12191999" cy="6362441"/>
          </a:xfrm>
          <a:prstGeom prst="rect">
            <a:avLst/>
          </a:prstGeom>
          <a:effectLst>
            <a:reflection blurRad="228600" stA="45000" endPos="65000" dist="50800" dir="5400000" sy="-100000" algn="bl" rotWithShape="0"/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871D0BF-EDC9-4673-8428-19A342551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7708">
            <a:off x="-1483782" y="2678620"/>
            <a:ext cx="5766741" cy="548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E5A63E-8478-42D4-B0E4-73F45E491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3425" y="3237818"/>
            <a:ext cx="3724889" cy="32352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FDFAF4A-EEF7-42B0-AC39-FF88126781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9452" y="1145547"/>
            <a:ext cx="589833" cy="3737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4993DC-25BA-4D9F-BEF5-EC1EF1733CD7}"/>
              </a:ext>
            </a:extLst>
          </p:cNvPr>
          <p:cNvSpPr txBox="1"/>
          <p:nvPr/>
        </p:nvSpPr>
        <p:spPr>
          <a:xfrm>
            <a:off x="5894702" y="2782489"/>
            <a:ext cx="6183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Интеллектуальная</a:t>
            </a:r>
            <a:r>
              <a:rPr lang="en-US" sz="1800" dirty="0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dirty="0" err="1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защита</a:t>
            </a:r>
            <a:r>
              <a:rPr lang="en-US" sz="1800" dirty="0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dirty="0" err="1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кода</a:t>
            </a:r>
            <a:r>
              <a:rPr lang="en-US" sz="1800" dirty="0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dirty="0" err="1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от</a:t>
            </a:r>
            <a:r>
              <a:rPr lang="en-US" sz="1800" dirty="0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dirty="0" err="1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утечки</a:t>
            </a:r>
            <a:r>
              <a:rPr lang="en-US" sz="1800" dirty="0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dirty="0" err="1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секретов</a:t>
            </a:r>
            <a:r>
              <a:rPr lang="en-US" sz="1800" dirty="0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и API-</a:t>
            </a:r>
            <a:r>
              <a:rPr lang="en-US" sz="1800" dirty="0" err="1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ключей</a:t>
            </a:r>
            <a:endParaRPr lang="en-US" sz="1800" dirty="0">
              <a:solidFill>
                <a:srgbClr val="00002E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ru-RU" dirty="0">
              <a:solidFill>
                <a:srgbClr val="00002E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C60E4D-AB8F-484E-A960-9E88E30AA4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9785" y="2799855"/>
            <a:ext cx="589833" cy="3737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22CAC3-4EA8-422A-866B-43D184F2F309}"/>
              </a:ext>
            </a:extLst>
          </p:cNvPr>
          <p:cNvSpPr txBox="1"/>
          <p:nvPr/>
        </p:nvSpPr>
        <p:spPr>
          <a:xfrm>
            <a:off x="5894702" y="2799855"/>
            <a:ext cx="6183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Интеллектуальная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защита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кода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от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утечки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секретов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и API-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ключей</a:t>
            </a:r>
            <a:endParaRPr lang="en-US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3F9EB-ABBB-4D21-B4E6-F2AC607561D7}"/>
              </a:ext>
            </a:extLst>
          </p:cNvPr>
          <p:cNvSpPr txBox="1"/>
          <p:nvPr/>
        </p:nvSpPr>
        <p:spPr>
          <a:xfrm>
            <a:off x="2184215" y="1167050"/>
            <a:ext cx="599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2E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Secret Scanner</a:t>
            </a:r>
          </a:p>
          <a:p>
            <a:endParaRPr lang="ru-RU" sz="3600" dirty="0">
              <a:solidFill>
                <a:srgbClr val="00002E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FE0C911-8D2A-457F-BE48-53DB872256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8639" y="1362158"/>
            <a:ext cx="589833" cy="373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35F1C1-563D-4BB6-B77A-05E32688D48E}"/>
              </a:ext>
            </a:extLst>
          </p:cNvPr>
          <p:cNvSpPr txBox="1"/>
          <p:nvPr/>
        </p:nvSpPr>
        <p:spPr>
          <a:xfrm>
            <a:off x="2226560" y="1188638"/>
            <a:ext cx="599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Secret Scanner</a:t>
            </a:r>
            <a:endParaRPr lang="en-US" sz="36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ru-RU" sz="36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73B4440-6F8B-4523-B72D-DCA7857E0C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8634" y="1066027"/>
            <a:ext cx="1201744" cy="83173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218D870-0A6D-4BC5-884D-127055C13F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618634" y="1069326"/>
            <a:ext cx="1014150" cy="77544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E9F8441-5596-48F7-8303-6AF7EF1F1218}"/>
              </a:ext>
            </a:extLst>
          </p:cNvPr>
          <p:cNvSpPr txBox="1"/>
          <p:nvPr/>
        </p:nvSpPr>
        <p:spPr>
          <a:xfrm>
            <a:off x="7588309" y="1198439"/>
            <a:ext cx="2488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Wh</a:t>
            </a:r>
            <a:r>
              <a:rPr lang="en-US" b="1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US" b="1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US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</a:p>
          <a:p>
            <a:r>
              <a:rPr lang="en-US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col</a:t>
            </a:r>
            <a:r>
              <a:rPr lang="en-US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US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ars</a:t>
            </a:r>
            <a:endParaRPr lang="ru-RU" b="1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513184-021A-484D-BC9A-9D7EAA8DCF25}"/>
              </a:ext>
            </a:extLst>
          </p:cNvPr>
          <p:cNvSpPr txBox="1"/>
          <p:nvPr/>
        </p:nvSpPr>
        <p:spPr>
          <a:xfrm>
            <a:off x="7611263" y="1717784"/>
            <a:ext cx="23799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team</a:t>
            </a:r>
            <a:endParaRPr lang="ru-RU" sz="900" b="1" i="1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10A3383E-118F-4ABD-9738-C838558DB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8200" y="5595550"/>
            <a:ext cx="2463799" cy="62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98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162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6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169FE82-CF71-410A-A30C-FDFB33080133}"/>
              </a:ext>
            </a:extLst>
          </p:cNvPr>
          <p:cNvSpPr/>
          <p:nvPr/>
        </p:nvSpPr>
        <p:spPr>
          <a:xfrm>
            <a:off x="7593438" y="2708250"/>
            <a:ext cx="1106062" cy="72074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багетная рамка 5">
            <a:extLst>
              <a:ext uri="{FF2B5EF4-FFF2-40B4-BE49-F238E27FC236}">
                <a16:creationId xmlns:a16="http://schemas.microsoft.com/office/drawing/2014/main" id="{DEA5A6C0-3339-4438-8953-AF82C3F6E2D8}"/>
              </a:ext>
            </a:extLst>
          </p:cNvPr>
          <p:cNvSpPr/>
          <p:nvPr/>
        </p:nvSpPr>
        <p:spPr>
          <a:xfrm>
            <a:off x="33337" y="0"/>
            <a:ext cx="12125325" cy="6686550"/>
          </a:xfrm>
          <a:prstGeom prst="bevel">
            <a:avLst>
              <a:gd name="adj" fmla="val 26318"/>
            </a:avLst>
          </a:prstGeom>
          <a:solidFill>
            <a:schemeClr val="tx1">
              <a:lumMod val="85000"/>
              <a:lumOff val="15000"/>
              <a:alpha val="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2CEF55C-84D8-43E5-8D76-186B6BC1CDE9}"/>
              </a:ext>
            </a:extLst>
          </p:cNvPr>
          <p:cNvSpPr/>
          <p:nvPr/>
        </p:nvSpPr>
        <p:spPr>
          <a:xfrm>
            <a:off x="5130466" y="1023644"/>
            <a:ext cx="553491" cy="5786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B305D-DDC2-473B-A8C2-5980E22BCEEA}"/>
              </a:ext>
            </a:extLst>
          </p:cNvPr>
          <p:cNvSpPr txBox="1"/>
          <p:nvPr/>
        </p:nvSpPr>
        <p:spPr>
          <a:xfrm>
            <a:off x="5271822" y="1195094"/>
            <a:ext cx="683658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Хардкодинг</a:t>
            </a:r>
            <a:r>
              <a:rPr lang="ru-RU" sz="2400" b="1" i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ключей в исходном коде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 Разработчики часто внедряют ключи Особенно критично, когда ключи остаются в конфигурационных файлах, в закомментированных блоках кода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br>
              <a:rPr lang="en-US" sz="2400" b="0" i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endParaRPr lang="ru-RU" sz="2400" b="0" i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Случайные коммиты в публичные репозитории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 Системы контроля версий типа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Git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хранят полную историю изменений, что создаёт риски: даже если ключ удалён из текущей версии кода, он может остаться в истории коммитов.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D4018ED-2440-465D-B626-9B859D73C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8305" y="1110814"/>
            <a:ext cx="5097129" cy="463637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70373BE-E6F3-4600-A20A-2693D19F7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7866" y="-343638"/>
            <a:ext cx="4986690" cy="145445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549929D-E2DB-48B3-B273-5E1D3AE3A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8305" y="5734769"/>
            <a:ext cx="5097129" cy="1421464"/>
          </a:xfrm>
          <a:prstGeom prst="rect">
            <a:avLst/>
          </a:prstGeom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96E4835E-869D-4BF0-9A13-43D5A2467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-410729" y="0"/>
            <a:ext cx="14375966" cy="715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B77994D-FEAB-4AAD-B2D5-C878742F0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48724" y="2425700"/>
            <a:ext cx="939224" cy="173700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71C48A8-06E7-4234-A777-875AEA5CE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96" y="5854573"/>
            <a:ext cx="1955366" cy="686735"/>
          </a:xfrm>
          <a:prstGeom prst="rect">
            <a:avLst/>
          </a:prstGeom>
        </p:spPr>
      </p:pic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7989666A-5689-4F3C-8A9E-E3AD70308200}"/>
              </a:ext>
            </a:extLst>
          </p:cNvPr>
          <p:cNvSpPr/>
          <p:nvPr/>
        </p:nvSpPr>
        <p:spPr>
          <a:xfrm>
            <a:off x="673100" y="5873499"/>
            <a:ext cx="2260600" cy="1110815"/>
          </a:xfrm>
          <a:prstGeom prst="round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8BAF45E6-93B7-45FC-B691-2FBF34121CD8}"/>
              </a:ext>
            </a:extLst>
          </p:cNvPr>
          <p:cNvSpPr/>
          <p:nvPr/>
        </p:nvSpPr>
        <p:spPr>
          <a:xfrm>
            <a:off x="1888131" y="6090822"/>
            <a:ext cx="2260600" cy="686735"/>
          </a:xfrm>
          <a:prstGeom prst="round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A76490E-013D-42A4-9E2B-BDF13E717156}"/>
              </a:ext>
            </a:extLst>
          </p:cNvPr>
          <p:cNvSpPr/>
          <p:nvPr/>
        </p:nvSpPr>
        <p:spPr>
          <a:xfrm>
            <a:off x="5698405" y="399926"/>
            <a:ext cx="774336" cy="606723"/>
          </a:xfrm>
          <a:prstGeom prst="rect">
            <a:avLst/>
          </a:prstGeom>
          <a:solidFill>
            <a:srgbClr val="77ED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43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D2E0377-C1D1-43E3-8AA2-2857665DF165}"/>
              </a:ext>
            </a:extLst>
          </p:cNvPr>
          <p:cNvSpPr/>
          <p:nvPr/>
        </p:nvSpPr>
        <p:spPr>
          <a:xfrm>
            <a:off x="9838442" y="850954"/>
            <a:ext cx="669088" cy="5023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4AE0C99-9AB5-49CC-87E0-69CAAB7A98B8}"/>
              </a:ext>
            </a:extLst>
          </p:cNvPr>
          <p:cNvSpPr/>
          <p:nvPr/>
        </p:nvSpPr>
        <p:spPr>
          <a:xfrm>
            <a:off x="8069527" y="1127928"/>
            <a:ext cx="1950773" cy="507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281AA88-CE84-4DFC-8315-F73E960EFEFD}"/>
              </a:ext>
            </a:extLst>
          </p:cNvPr>
          <p:cNvSpPr/>
          <p:nvPr/>
        </p:nvSpPr>
        <p:spPr>
          <a:xfrm>
            <a:off x="4237456" y="546100"/>
            <a:ext cx="669088" cy="5023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/>
          <p:cNvSpPr/>
          <p:nvPr/>
        </p:nvSpPr>
        <p:spPr>
          <a:xfrm>
            <a:off x="5059230" y="461765"/>
            <a:ext cx="622379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Одна ошибка — миллионные </a:t>
            </a:r>
            <a:r>
              <a:rPr lang="en-US" sz="3667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потери</a:t>
            </a:r>
          </a:p>
        </p:txBody>
      </p:sp>
      <p:sp>
        <p:nvSpPr>
          <p:cNvPr id="4" name="Text 1"/>
          <p:cNvSpPr/>
          <p:nvPr/>
        </p:nvSpPr>
        <p:spPr>
          <a:xfrm>
            <a:off x="6695548" y="2069193"/>
            <a:ext cx="3811982" cy="3969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4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Всего один случайно забытый токен в репозитории может привести к катастрофическим последствиям: утечке конфиденциальных данных, компрометации инфраструктуры и </a:t>
            </a:r>
            <a:r>
              <a:rPr lang="en-US" sz="2400" b="1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финансовым</a:t>
            </a:r>
            <a:r>
              <a:rPr lang="en-US" sz="2400" b="1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потерям</a:t>
            </a:r>
            <a:r>
              <a:rPr lang="en-US" sz="2400" b="1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на</a:t>
            </a:r>
            <a:r>
              <a:rPr lang="en-US" sz="2400" b="1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миллионы</a:t>
            </a:r>
            <a:r>
              <a:rPr lang="en-US" sz="2400" b="1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рублей</a:t>
            </a:r>
            <a:r>
              <a:rPr lang="en-US" sz="24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endParaRPr lang="en-US" sz="24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6A4DA6-BEE0-4B62-9EE0-E5444E16E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3412" y="6038736"/>
            <a:ext cx="1679224" cy="81926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13E005C-84F3-4F07-B5E2-47BABCE473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737" r="47776" b="968"/>
          <a:stretch/>
        </p:blipFill>
        <p:spPr>
          <a:xfrm>
            <a:off x="-578642" y="2069193"/>
            <a:ext cx="6223794" cy="3474165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4D49098-E8EB-4F15-891F-F209E3988823}"/>
              </a:ext>
            </a:extLst>
          </p:cNvPr>
          <p:cNvSpPr/>
          <p:nvPr/>
        </p:nvSpPr>
        <p:spPr>
          <a:xfrm>
            <a:off x="0" y="574837"/>
            <a:ext cx="2974732" cy="15968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A95AB6E-7C27-42EF-9F04-6EDACBCB017D}"/>
              </a:ext>
            </a:extLst>
          </p:cNvPr>
          <p:cNvSpPr/>
          <p:nvPr/>
        </p:nvSpPr>
        <p:spPr>
          <a:xfrm>
            <a:off x="9838443" y="150234"/>
            <a:ext cx="669088" cy="623062"/>
          </a:xfrm>
          <a:prstGeom prst="rect">
            <a:avLst/>
          </a:prstGeom>
          <a:solidFill>
            <a:srgbClr val="77ED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9858FDE-D0B5-4617-B3EE-4E20DFF3EFE9}"/>
              </a:ext>
            </a:extLst>
          </p:cNvPr>
          <p:cNvSpPr/>
          <p:nvPr/>
        </p:nvSpPr>
        <p:spPr>
          <a:xfrm>
            <a:off x="0" y="539422"/>
            <a:ext cx="2974732" cy="1095703"/>
          </a:xfrm>
          <a:prstGeom prst="rect">
            <a:avLst/>
          </a:prstGeom>
          <a:solidFill>
            <a:srgbClr val="77ED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01A845-71CE-4802-B144-85F6F5699523}"/>
              </a:ext>
            </a:extLst>
          </p:cNvPr>
          <p:cNvSpPr/>
          <p:nvPr/>
        </p:nvSpPr>
        <p:spPr>
          <a:xfrm>
            <a:off x="9153713" y="5196133"/>
            <a:ext cx="723772" cy="7708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AB39DD-F1B2-459B-BB57-1454074CA9D6}"/>
              </a:ext>
            </a:extLst>
          </p:cNvPr>
          <p:cNvSpPr/>
          <p:nvPr/>
        </p:nvSpPr>
        <p:spPr>
          <a:xfrm>
            <a:off x="-40356" y="787400"/>
            <a:ext cx="1792955" cy="1460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926F420F-B511-4813-86B2-28000FD7AAB9}"/>
              </a:ext>
            </a:extLst>
          </p:cNvPr>
          <p:cNvSpPr/>
          <p:nvPr/>
        </p:nvSpPr>
        <p:spPr>
          <a:xfrm>
            <a:off x="6382879" y="787400"/>
            <a:ext cx="5774786" cy="402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Secret Scanner</a:t>
            </a:r>
            <a:br>
              <a:rPr lang="en-US" sz="36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en-US" sz="3600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специализированный</a:t>
            </a:r>
            <a:r>
              <a:rPr lang="en-US" sz="36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инструмент</a:t>
            </a:r>
            <a:r>
              <a:rPr lang="en-US" sz="36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для глубокого поиска захардкоженных секретов, паролей и API-ключей в исходном коде и истории коммитов.</a:t>
            </a:r>
            <a:endParaRPr lang="en-US" sz="36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44F4BA-BFBF-4AA6-8AB5-135EE39E9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39" y="1517650"/>
            <a:ext cx="5630061" cy="3534268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646F8D0-C722-43C1-B0E7-B204715A08CC}"/>
              </a:ext>
            </a:extLst>
          </p:cNvPr>
          <p:cNvSpPr/>
          <p:nvPr/>
        </p:nvSpPr>
        <p:spPr>
          <a:xfrm>
            <a:off x="4833041" y="4639002"/>
            <a:ext cx="1475148" cy="11142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95377B-F163-42AF-8811-52E41EEE4D40}"/>
              </a:ext>
            </a:extLst>
          </p:cNvPr>
          <p:cNvSpPr/>
          <p:nvPr/>
        </p:nvSpPr>
        <p:spPr>
          <a:xfrm>
            <a:off x="9632158" y="5728665"/>
            <a:ext cx="2559842" cy="1203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D498D07-D95C-42FC-B660-66CA827BCE34}"/>
              </a:ext>
            </a:extLst>
          </p:cNvPr>
          <p:cNvSpPr/>
          <p:nvPr/>
        </p:nvSpPr>
        <p:spPr>
          <a:xfrm>
            <a:off x="5754698" y="485672"/>
            <a:ext cx="553490" cy="1889227"/>
          </a:xfrm>
          <a:prstGeom prst="rect">
            <a:avLst/>
          </a:prstGeom>
          <a:solidFill>
            <a:srgbClr val="77ED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33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464F91B-8B57-4479-8755-FABC0DC5F226}"/>
              </a:ext>
            </a:extLst>
          </p:cNvPr>
          <p:cNvSpPr/>
          <p:nvPr/>
        </p:nvSpPr>
        <p:spPr>
          <a:xfrm>
            <a:off x="9537700" y="1"/>
            <a:ext cx="788329" cy="711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698103" y="715854"/>
            <a:ext cx="4966693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Технологический стек</a:t>
            </a:r>
            <a:endParaRPr lang="en-US" sz="3667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98103" y="2366467"/>
            <a:ext cx="5298182" cy="1455638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8103" y="2341067"/>
            <a:ext cx="5298182" cy="101600"/>
          </a:xfrm>
          <a:prstGeom prst="roundRect">
            <a:avLst>
              <a:gd name="adj" fmla="val 294514"/>
            </a:avLst>
          </a:prstGeom>
          <a:solidFill>
            <a:srgbClr val="F2B42D"/>
          </a:solidFill>
          <a:ln/>
        </p:spPr>
      </p:sp>
      <p:sp>
        <p:nvSpPr>
          <p:cNvPr id="5" name="Shape 3"/>
          <p:cNvSpPr/>
          <p:nvPr/>
        </p:nvSpPr>
        <p:spPr>
          <a:xfrm>
            <a:off x="3047950" y="2067322"/>
            <a:ext cx="598388" cy="598388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7" name="Text 4"/>
          <p:cNvSpPr/>
          <p:nvPr/>
        </p:nvSpPr>
        <p:spPr>
          <a:xfrm>
            <a:off x="922933" y="2865140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Python/C++/C</a:t>
            </a:r>
            <a:endParaRPr lang="en-US" sz="1833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22933" y="3278088"/>
            <a:ext cx="48485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Ядро системы с использованием AST-парсинга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95715" y="2366467"/>
            <a:ext cx="5298182" cy="1455638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195715" y="2341067"/>
            <a:ext cx="5298182" cy="101600"/>
          </a:xfrm>
          <a:prstGeom prst="roundRect">
            <a:avLst>
              <a:gd name="adj" fmla="val 294514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11" name="Shape 8"/>
          <p:cNvSpPr/>
          <p:nvPr/>
        </p:nvSpPr>
        <p:spPr>
          <a:xfrm>
            <a:off x="8545563" y="2067322"/>
            <a:ext cx="598388" cy="598388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13" name="Text 9"/>
          <p:cNvSpPr/>
          <p:nvPr/>
        </p:nvSpPr>
        <p:spPr>
          <a:xfrm>
            <a:off x="6420545" y="2865140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Git</a:t>
            </a:r>
            <a:endParaRPr lang="en-US" sz="1833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420544" y="3278088"/>
            <a:ext cx="48485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Анализ всей истории коммитов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98103" y="4320679"/>
            <a:ext cx="5298182" cy="1455638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98103" y="4295279"/>
            <a:ext cx="5298182" cy="101600"/>
          </a:xfrm>
          <a:prstGeom prst="roundRect">
            <a:avLst>
              <a:gd name="adj" fmla="val 294514"/>
            </a:avLst>
          </a:prstGeom>
          <a:solidFill>
            <a:srgbClr val="DD785E"/>
          </a:solidFill>
          <a:ln/>
        </p:spPr>
      </p:sp>
      <p:sp>
        <p:nvSpPr>
          <p:cNvPr id="17" name="Shape 13"/>
          <p:cNvSpPr/>
          <p:nvPr/>
        </p:nvSpPr>
        <p:spPr>
          <a:xfrm>
            <a:off x="3047950" y="4021534"/>
            <a:ext cx="598388" cy="598388"/>
          </a:xfrm>
          <a:prstGeom prst="roundRect">
            <a:avLst>
              <a:gd name="adj" fmla="val 16042"/>
            </a:avLst>
          </a:prstGeom>
          <a:solidFill>
            <a:srgbClr val="F2B42D"/>
          </a:solidFill>
          <a:ln/>
        </p:spPr>
      </p:sp>
      <p:sp>
        <p:nvSpPr>
          <p:cNvPr id="19" name="Text 14"/>
          <p:cNvSpPr/>
          <p:nvPr/>
        </p:nvSpPr>
        <p:spPr>
          <a:xfrm>
            <a:off x="922933" y="4819353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Flask</a:t>
            </a:r>
            <a:endParaRPr lang="en-US" sz="1833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922933" y="5232301"/>
            <a:ext cx="48485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Веб-интерфейс с Jinja2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195715" y="4320679"/>
            <a:ext cx="5298182" cy="1455638"/>
          </a:xfrm>
          <a:prstGeom prst="roundRect">
            <a:avLst>
              <a:gd name="adj" fmla="val 8376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6195715" y="4295279"/>
            <a:ext cx="5298182" cy="101600"/>
          </a:xfrm>
          <a:prstGeom prst="roundRect">
            <a:avLst>
              <a:gd name="adj" fmla="val 294514"/>
            </a:avLst>
          </a:prstGeom>
          <a:solidFill>
            <a:srgbClr val="48A8E2"/>
          </a:solidFill>
          <a:ln/>
        </p:spPr>
      </p:sp>
      <p:sp>
        <p:nvSpPr>
          <p:cNvPr id="23" name="Shape 18"/>
          <p:cNvSpPr/>
          <p:nvPr/>
        </p:nvSpPr>
        <p:spPr>
          <a:xfrm>
            <a:off x="8545563" y="4021534"/>
            <a:ext cx="598388" cy="598388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5050" y="4201021"/>
            <a:ext cx="239316" cy="2393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20545" y="4819353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JSON/HTML</a:t>
            </a:r>
            <a:endParaRPr lang="en-US" sz="1833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6420544" y="5232301"/>
            <a:ext cx="48485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Структурированные отчеты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97B562F-785C-4777-A05E-8D0A8F5D6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3412" y="6038736"/>
            <a:ext cx="1679224" cy="819264"/>
          </a:xfrm>
          <a:prstGeom prst="rect">
            <a:avLst/>
          </a:prstGeom>
        </p:spPr>
      </p:pic>
      <p:sp>
        <p:nvSpPr>
          <p:cNvPr id="29" name="Shape 13">
            <a:extLst>
              <a:ext uri="{FF2B5EF4-FFF2-40B4-BE49-F238E27FC236}">
                <a16:creationId xmlns:a16="http://schemas.microsoft.com/office/drawing/2014/main" id="{724C799E-CDFE-4426-A44C-08C32857C923}"/>
              </a:ext>
            </a:extLst>
          </p:cNvPr>
          <p:cNvSpPr/>
          <p:nvPr/>
        </p:nvSpPr>
        <p:spPr>
          <a:xfrm>
            <a:off x="3047950" y="2054573"/>
            <a:ext cx="598388" cy="618132"/>
          </a:xfrm>
          <a:prstGeom prst="roundRect">
            <a:avLst>
              <a:gd name="adj" fmla="val 16042"/>
            </a:avLst>
          </a:prstGeom>
          <a:solidFill>
            <a:srgbClr val="F2B42D"/>
          </a:solidFill>
          <a:ln/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37BCF1-01D8-40E9-B5E5-59570AD6C97F}"/>
              </a:ext>
            </a:extLst>
          </p:cNvPr>
          <p:cNvSpPr txBox="1"/>
          <p:nvPr/>
        </p:nvSpPr>
        <p:spPr>
          <a:xfrm>
            <a:off x="3073004" y="2104489"/>
            <a:ext cx="678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01</a:t>
            </a:r>
            <a:endParaRPr lang="ru-RU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4AE5FBC5-129D-45FE-B4EA-80436C576E43}"/>
              </a:ext>
            </a:extLst>
          </p:cNvPr>
          <p:cNvSpPr/>
          <p:nvPr/>
        </p:nvSpPr>
        <p:spPr>
          <a:xfrm>
            <a:off x="8545563" y="2054573"/>
            <a:ext cx="620316" cy="618132"/>
          </a:xfrm>
          <a:prstGeom prst="roundRect">
            <a:avLst>
              <a:gd name="adj" fmla="val 16042"/>
            </a:avLst>
          </a:prstGeom>
          <a:solidFill>
            <a:srgbClr val="F2B42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1581" y="2156353"/>
            <a:ext cx="419008" cy="419008"/>
          </a:xfrm>
          <a:prstGeom prst="rect">
            <a:avLst/>
          </a:prstGeom>
        </p:spPr>
      </p:pic>
      <p:sp>
        <p:nvSpPr>
          <p:cNvPr id="31" name="Shape 13">
            <a:extLst>
              <a:ext uri="{FF2B5EF4-FFF2-40B4-BE49-F238E27FC236}">
                <a16:creationId xmlns:a16="http://schemas.microsoft.com/office/drawing/2014/main" id="{E3FDD81A-4EC0-4D5B-A345-866A3B9389E5}"/>
              </a:ext>
            </a:extLst>
          </p:cNvPr>
          <p:cNvSpPr/>
          <p:nvPr/>
        </p:nvSpPr>
        <p:spPr>
          <a:xfrm>
            <a:off x="8545563" y="4009728"/>
            <a:ext cx="598388" cy="610194"/>
          </a:xfrm>
          <a:prstGeom prst="roundRect">
            <a:avLst>
              <a:gd name="adj" fmla="val 16042"/>
            </a:avLst>
          </a:prstGeom>
          <a:solidFill>
            <a:srgbClr val="F2B42D"/>
          </a:solidFill>
          <a:ln/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970A3E-84D9-4BFD-8FBF-27AE06DEE2E6}"/>
              </a:ext>
            </a:extLst>
          </p:cNvPr>
          <p:cNvSpPr txBox="1"/>
          <p:nvPr/>
        </p:nvSpPr>
        <p:spPr>
          <a:xfrm>
            <a:off x="8590941" y="3961032"/>
            <a:ext cx="5983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https://</a:t>
            </a:r>
            <a:endParaRPr lang="ru-RU" sz="14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706096-BFE3-450C-8B6C-E964C777D0B4}"/>
              </a:ext>
            </a:extLst>
          </p:cNvPr>
          <p:cNvSpPr txBox="1"/>
          <p:nvPr/>
        </p:nvSpPr>
        <p:spPr>
          <a:xfrm>
            <a:off x="3137743" y="4130309"/>
            <a:ext cx="598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FL</a:t>
            </a:r>
            <a:endParaRPr lang="ru-RU" sz="2000" i="1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651CBE8-0943-471A-AA04-5F917229FFF9}"/>
              </a:ext>
            </a:extLst>
          </p:cNvPr>
          <p:cNvSpPr/>
          <p:nvPr/>
        </p:nvSpPr>
        <p:spPr>
          <a:xfrm>
            <a:off x="10279396" y="688344"/>
            <a:ext cx="1918717" cy="708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BFE79FA-9B6F-4EFA-B8E5-1649AEC8DB21}"/>
              </a:ext>
            </a:extLst>
          </p:cNvPr>
          <p:cNvSpPr/>
          <p:nvPr/>
        </p:nvSpPr>
        <p:spPr>
          <a:xfrm>
            <a:off x="698103" y="5817051"/>
            <a:ext cx="663768" cy="6772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18A83F0-7829-4C91-98B7-77917AC86726}"/>
              </a:ext>
            </a:extLst>
          </p:cNvPr>
          <p:cNvSpPr/>
          <p:nvPr/>
        </p:nvSpPr>
        <p:spPr>
          <a:xfrm>
            <a:off x="-261714" y="6060117"/>
            <a:ext cx="1182029" cy="9990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99259B7C-6474-44CF-8E9F-6D85E570E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776" y="6243299"/>
            <a:ext cx="1355121" cy="343368"/>
          </a:xfrm>
          <a:prstGeom prst="rect">
            <a:avLst/>
          </a:prstGeom>
          <a:noFill/>
          <a:scene3d>
            <a:camera prst="isometricRightU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54CC196-1621-4776-A30B-C91FA3FA72CE}"/>
              </a:ext>
            </a:extLst>
          </p:cNvPr>
          <p:cNvSpPr txBox="1"/>
          <p:nvPr/>
        </p:nvSpPr>
        <p:spPr>
          <a:xfrm>
            <a:off x="10319071" y="5905718"/>
            <a:ext cx="141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Powered by </a:t>
            </a:r>
            <a:endParaRPr lang="ru-RU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38BA369F-2FDD-4040-AB2C-18B1304980EC}"/>
              </a:ext>
            </a:extLst>
          </p:cNvPr>
          <p:cNvSpPr/>
          <p:nvPr/>
        </p:nvSpPr>
        <p:spPr>
          <a:xfrm>
            <a:off x="9202029" y="924136"/>
            <a:ext cx="795189" cy="623062"/>
          </a:xfrm>
          <a:prstGeom prst="rect">
            <a:avLst/>
          </a:prstGeom>
          <a:solidFill>
            <a:srgbClr val="77ED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6F6F155-2DB2-434E-B2B1-AF15304FF82E}"/>
              </a:ext>
            </a:extLst>
          </p:cNvPr>
          <p:cNvSpPr/>
          <p:nvPr/>
        </p:nvSpPr>
        <p:spPr>
          <a:xfrm>
            <a:off x="6451024" y="2193594"/>
            <a:ext cx="1950773" cy="507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14F139-6D41-48DD-9F76-1A76CC99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2050C79-AA09-4FA4-9481-0295EEE64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006" y="0"/>
            <a:ext cx="12292012" cy="6917238"/>
          </a:xfr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997A62B-C72C-46BE-9BF1-DC2927D598FE}"/>
              </a:ext>
            </a:extLst>
          </p:cNvPr>
          <p:cNvSpPr/>
          <p:nvPr/>
        </p:nvSpPr>
        <p:spPr>
          <a:xfrm>
            <a:off x="7916709" y="4442556"/>
            <a:ext cx="2679938" cy="2462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2341051-A873-455F-852D-B75B621A0893}"/>
              </a:ext>
            </a:extLst>
          </p:cNvPr>
          <p:cNvSpPr/>
          <p:nvPr/>
        </p:nvSpPr>
        <p:spPr>
          <a:xfrm>
            <a:off x="2035585" y="1785573"/>
            <a:ext cx="2679938" cy="2462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0665211-7514-4BE0-814E-46BE46F418EB}"/>
              </a:ext>
            </a:extLst>
          </p:cNvPr>
          <p:cNvSpPr/>
          <p:nvPr/>
        </p:nvSpPr>
        <p:spPr>
          <a:xfrm>
            <a:off x="11517657" y="1229898"/>
            <a:ext cx="724349" cy="702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B4F6BA-5F7D-4FF7-A233-1B1BAB753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100" y="1081263"/>
            <a:ext cx="6491124" cy="11769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F2F71C-F61B-415A-846C-DCCF6BBE5EFB}"/>
              </a:ext>
            </a:extLst>
          </p:cNvPr>
          <p:cNvSpPr txBox="1"/>
          <p:nvPr/>
        </p:nvSpPr>
        <p:spPr>
          <a:xfrm>
            <a:off x="3701716" y="987564"/>
            <a:ext cx="59869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Алгоритм</a:t>
            </a: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ConfidenceScorer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C1594F8-942A-4DE0-A479-6F98EE869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318" y="2566417"/>
            <a:ext cx="5514970" cy="4178743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4D0B463-ED23-415E-859B-D25A603A01C1}"/>
              </a:ext>
            </a:extLst>
          </p:cNvPr>
          <p:cNvSpPr/>
          <p:nvPr/>
        </p:nvSpPr>
        <p:spPr>
          <a:xfrm>
            <a:off x="2852719" y="492911"/>
            <a:ext cx="795189" cy="623062"/>
          </a:xfrm>
          <a:prstGeom prst="rect">
            <a:avLst/>
          </a:prstGeom>
          <a:solidFill>
            <a:srgbClr val="77ED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7EC8B7B-03B6-4CFD-90CC-2BC97AFC3518}"/>
              </a:ext>
            </a:extLst>
          </p:cNvPr>
          <p:cNvSpPr/>
          <p:nvPr/>
        </p:nvSpPr>
        <p:spPr>
          <a:xfrm>
            <a:off x="2035585" y="4349982"/>
            <a:ext cx="795189" cy="1415817"/>
          </a:xfrm>
          <a:prstGeom prst="rect">
            <a:avLst/>
          </a:prstGeom>
          <a:solidFill>
            <a:srgbClr val="77ED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2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8D865F-9AE6-4065-9A5D-2FC1ACA92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479"/>
            <a:ext cx="11480800" cy="68884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3849F6-C346-4FCD-8CF5-0BF52E48A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4157" y="-30479"/>
            <a:ext cx="847843" cy="6888479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240A936-FBC4-4E9E-B295-A95E5B7880DA}"/>
              </a:ext>
            </a:extLst>
          </p:cNvPr>
          <p:cNvSpPr/>
          <p:nvPr/>
        </p:nvSpPr>
        <p:spPr>
          <a:xfrm>
            <a:off x="10273283" y="-133814"/>
            <a:ext cx="1918717" cy="594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670C51-105C-4B84-A899-ED43D8DE5590}"/>
              </a:ext>
            </a:extLst>
          </p:cNvPr>
          <p:cNvSpPr/>
          <p:nvPr/>
        </p:nvSpPr>
        <p:spPr>
          <a:xfrm>
            <a:off x="11711791" y="1079961"/>
            <a:ext cx="480209" cy="594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EC3B2AD-46B3-44F0-A21B-308497CC1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487" y="5781041"/>
            <a:ext cx="990738" cy="2420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3D827C-93A8-4041-98FF-30A9629AFE2A}"/>
              </a:ext>
            </a:extLst>
          </p:cNvPr>
          <p:cNvSpPr txBox="1"/>
          <p:nvPr/>
        </p:nvSpPr>
        <p:spPr>
          <a:xfrm>
            <a:off x="9291431" y="5738708"/>
            <a:ext cx="16966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Secret Scanner</a:t>
            </a:r>
            <a:endParaRPr lang="en-US" sz="14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ru-RU" sz="12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AB3C717-D938-43AD-AFC8-B9190D366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631" y="5773061"/>
            <a:ext cx="990738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55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FEB7E1-2330-4C1C-A20D-578E3B64E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E4007B-4DA6-400F-8883-AC05C274146F}"/>
              </a:ext>
            </a:extLst>
          </p:cNvPr>
          <p:cNvSpPr/>
          <p:nvPr/>
        </p:nvSpPr>
        <p:spPr>
          <a:xfrm>
            <a:off x="6207512" y="1780099"/>
            <a:ext cx="260195" cy="2605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77375C-922F-4550-B034-0068334663CD}"/>
              </a:ext>
            </a:extLst>
          </p:cNvPr>
          <p:cNvSpPr/>
          <p:nvPr/>
        </p:nvSpPr>
        <p:spPr>
          <a:xfrm>
            <a:off x="6207512" y="3690486"/>
            <a:ext cx="260195" cy="2605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5005D22-6CA5-44DF-AA37-427E0014531C}"/>
              </a:ext>
            </a:extLst>
          </p:cNvPr>
          <p:cNvSpPr/>
          <p:nvPr/>
        </p:nvSpPr>
        <p:spPr>
          <a:xfrm>
            <a:off x="0" y="-1"/>
            <a:ext cx="546410" cy="16392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FBB8960-6716-4FBF-9C40-21FB9C827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687" y="5712859"/>
            <a:ext cx="781159" cy="34294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8F9DD0F-3DD0-4885-B433-87469061B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07" y="6417478"/>
            <a:ext cx="781159" cy="34294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752CEDE-D960-4268-831E-C37B6BBC824A}"/>
              </a:ext>
            </a:extLst>
          </p:cNvPr>
          <p:cNvSpPr txBox="1"/>
          <p:nvPr/>
        </p:nvSpPr>
        <p:spPr>
          <a:xfrm>
            <a:off x="3697871" y="6417478"/>
            <a:ext cx="234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Secret Scanner</a:t>
            </a:r>
            <a:endParaRPr lang="en-US" sz="9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ru-RU" sz="9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38A13F2-8F8C-4A0E-AE2D-9F02362A2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461" y="6346030"/>
            <a:ext cx="781160" cy="4858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ADF519E-4A9A-4ACE-A1CC-F27BDD37B5C5}"/>
              </a:ext>
            </a:extLst>
          </p:cNvPr>
          <p:cNvSpPr txBox="1"/>
          <p:nvPr/>
        </p:nvSpPr>
        <p:spPr>
          <a:xfrm>
            <a:off x="2494461" y="6358118"/>
            <a:ext cx="8329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Другие</a:t>
            </a:r>
          </a:p>
          <a:p>
            <a:r>
              <a:rPr lang="ru-RU" sz="105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2510065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4A2A2AD-8021-414E-BFCC-C5AF6D51FAD5}"/>
              </a:ext>
            </a:extLst>
          </p:cNvPr>
          <p:cNvSpPr/>
          <p:nvPr/>
        </p:nvSpPr>
        <p:spPr>
          <a:xfrm>
            <a:off x="1473201" y="385301"/>
            <a:ext cx="1724210" cy="1639229"/>
          </a:xfrm>
          <a:prstGeom prst="rect">
            <a:avLst/>
          </a:prstGeom>
          <a:solidFill>
            <a:srgbClr val="4ACE5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881BC44-2893-4DE9-B400-56FF36705AD4}"/>
              </a:ext>
            </a:extLst>
          </p:cNvPr>
          <p:cNvSpPr/>
          <p:nvPr/>
        </p:nvSpPr>
        <p:spPr>
          <a:xfrm>
            <a:off x="5798120" y="262285"/>
            <a:ext cx="795189" cy="623062"/>
          </a:xfrm>
          <a:prstGeom prst="rect">
            <a:avLst/>
          </a:prstGeom>
          <a:solidFill>
            <a:srgbClr val="77ED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698104" y="550367"/>
            <a:ext cx="5670153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Ключевое преимущество</a:t>
            </a:r>
            <a:endParaRPr lang="en-US" sz="3667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98102" y="1536006"/>
            <a:ext cx="10932619" cy="2286099"/>
          </a:xfrm>
          <a:prstGeom prst="roundRect">
            <a:avLst>
              <a:gd name="adj" fmla="val 13089"/>
            </a:avLst>
          </a:prstGeom>
          <a:solidFill>
            <a:srgbClr val="00002E"/>
          </a:solidFill>
          <a:ln w="22860">
            <a:solidFill>
              <a:schemeClr val="bg2">
                <a:lumMod val="75000"/>
              </a:scheme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6583" y="1810751"/>
            <a:ext cx="253771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Локальная </a:t>
            </a:r>
            <a:r>
              <a:rPr lang="en-US" sz="20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специфика</a:t>
            </a:r>
            <a:endParaRPr lang="en-US" sz="1833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6583" y="2381140"/>
            <a:ext cx="4861223" cy="14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Распознает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токены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российских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провайдеров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Yandex Cloud, VK Cloud, 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Selectel</a:t>
            </a:r>
            <a:r>
              <a:rPr lang="en-US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SberCloud</a:t>
            </a:r>
            <a:endParaRPr lang="en-US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195715" y="2381140"/>
            <a:ext cx="4861223" cy="104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Поддержка ЮKassa, Тинькофф, CloudPayments и других национальных решений</a:t>
            </a:r>
            <a:endParaRPr lang="en-US" sz="20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98103" y="4021535"/>
            <a:ext cx="5298182" cy="2286099"/>
          </a:xfrm>
          <a:prstGeom prst="roundRect">
            <a:avLst>
              <a:gd name="adj" fmla="val 13089"/>
            </a:avLst>
          </a:prstGeom>
          <a:solidFill>
            <a:srgbClr val="00002E"/>
          </a:solidFill>
          <a:ln w="22860">
            <a:solidFill>
              <a:schemeClr val="bg2">
                <a:lumMod val="75000"/>
              </a:scheme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016040" y="4490911"/>
            <a:ext cx="2785622" cy="437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Госсервисы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16584" y="5116461"/>
            <a:ext cx="5079702" cy="95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Анализ токенов ЕСИА и других государственных сервисов</a:t>
            </a:r>
            <a:endParaRPr lang="en-US" sz="16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195715" y="4021534"/>
            <a:ext cx="5298182" cy="2286099"/>
          </a:xfrm>
          <a:prstGeom prst="roundRect">
            <a:avLst>
              <a:gd name="adj" fmla="val 13089"/>
            </a:avLst>
          </a:prstGeom>
          <a:solidFill>
            <a:srgbClr val="00002E"/>
          </a:solidFill>
          <a:ln w="22860">
            <a:solidFill>
              <a:schemeClr val="bg2">
                <a:lumMod val="75000"/>
              </a:scheme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14194" y="4411348"/>
            <a:ext cx="2785622" cy="437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Мировые стандарты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291738" y="5111278"/>
            <a:ext cx="5060650" cy="95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Интеграция с AWS, GitHub и другими глобальными платформами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B10BC89-BC83-4524-B815-5BA32754E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2776" y="6427292"/>
            <a:ext cx="1679224" cy="409632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31F956A-79D4-4569-812A-2E5B2AD4BC89}"/>
              </a:ext>
            </a:extLst>
          </p:cNvPr>
          <p:cNvSpPr/>
          <p:nvPr/>
        </p:nvSpPr>
        <p:spPr>
          <a:xfrm>
            <a:off x="10392938" y="0"/>
            <a:ext cx="1845848" cy="6968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8B978BA-A1C0-4692-8122-1EFA0538430B}"/>
              </a:ext>
            </a:extLst>
          </p:cNvPr>
          <p:cNvSpPr/>
          <p:nvPr/>
        </p:nvSpPr>
        <p:spPr>
          <a:xfrm>
            <a:off x="0" y="-1"/>
            <a:ext cx="546410" cy="16392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2202" y="421978"/>
            <a:ext cx="4720233" cy="423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667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Два формата использования</a:t>
            </a:r>
            <a:endParaRPr lang="en-US" sz="2667" dirty="0"/>
          </a:p>
        </p:txBody>
      </p:sp>
      <p:sp>
        <p:nvSpPr>
          <p:cNvPr id="4" name="Text 1"/>
          <p:cNvSpPr/>
          <p:nvPr/>
        </p:nvSpPr>
        <p:spPr>
          <a:xfrm>
            <a:off x="1422202" y="5765503"/>
            <a:ext cx="1693367" cy="21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333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CLI-приложение</a:t>
            </a:r>
            <a:endParaRPr lang="en-US" sz="1333" dirty="0"/>
          </a:p>
        </p:txBody>
      </p:sp>
      <p:sp>
        <p:nvSpPr>
          <p:cNvPr id="5" name="Text 2"/>
          <p:cNvSpPr/>
          <p:nvPr/>
        </p:nvSpPr>
        <p:spPr>
          <a:xfrm>
            <a:off x="1422202" y="6039445"/>
            <a:ext cx="460881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125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Мощный консольный инструмент для CI/CD процессов с цветным выводом и JSON/HTML отчетами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6160790" y="5765602"/>
            <a:ext cx="1693367" cy="21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333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Веб-интерфейс</a:t>
            </a:r>
            <a:endParaRPr lang="en-US" sz="1333" dirty="0"/>
          </a:p>
        </p:txBody>
      </p:sp>
      <p:sp>
        <p:nvSpPr>
          <p:cNvPr id="8" name="Text 4"/>
          <p:cNvSpPr/>
          <p:nvPr/>
        </p:nvSpPr>
        <p:spPr>
          <a:xfrm>
            <a:off x="6160791" y="6039544"/>
            <a:ext cx="4608909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125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Полноценное Flask-приложение с интерактивным дашбордом через браузер</a:t>
            </a:r>
            <a:endParaRPr lang="en-US" sz="1125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BAEAE8F-A0B2-4A59-AD84-B929CDD64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3412" y="6435922"/>
            <a:ext cx="1679224" cy="422077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5188174-17DF-4165-A0BC-383A702340F0}"/>
              </a:ext>
            </a:extLst>
          </p:cNvPr>
          <p:cNvSpPr/>
          <p:nvPr/>
        </p:nvSpPr>
        <p:spPr>
          <a:xfrm>
            <a:off x="8947720" y="222184"/>
            <a:ext cx="795189" cy="62306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1F2EB98-378C-4FE5-80C6-0A81582ACD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72" y="70442"/>
            <a:ext cx="12066768" cy="678755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742A0CF-17DC-4C35-9C89-627A5F9BB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356" y="3016194"/>
            <a:ext cx="1120843" cy="461524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ECA7DC4C-0037-4A2F-834B-F1F58974B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612" y="-241300"/>
            <a:ext cx="12183248" cy="709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9125723-FF8F-4243-8C6A-0FB42AC8F8CA}"/>
              </a:ext>
            </a:extLst>
          </p:cNvPr>
          <p:cNvSpPr/>
          <p:nvPr/>
        </p:nvSpPr>
        <p:spPr>
          <a:xfrm>
            <a:off x="291902" y="3177025"/>
            <a:ext cx="1120843" cy="723901"/>
          </a:xfrm>
          <a:prstGeom prst="roundRect">
            <a:avLst>
              <a:gd name="adj" fmla="val 281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5158718-4481-4962-A94F-DDC3F5EE2A8A}"/>
              </a:ext>
            </a:extLst>
          </p:cNvPr>
          <p:cNvSpPr/>
          <p:nvPr/>
        </p:nvSpPr>
        <p:spPr>
          <a:xfrm>
            <a:off x="10769700" y="1094226"/>
            <a:ext cx="1120843" cy="396478"/>
          </a:xfrm>
          <a:prstGeom prst="roundRect">
            <a:avLst>
              <a:gd name="adj" fmla="val 281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468B47CF-C0CC-45C3-8547-792BA45B26D9}"/>
              </a:ext>
            </a:extLst>
          </p:cNvPr>
          <p:cNvSpPr/>
          <p:nvPr/>
        </p:nvSpPr>
        <p:spPr>
          <a:xfrm>
            <a:off x="10943553" y="1614330"/>
            <a:ext cx="816647" cy="723901"/>
          </a:xfrm>
          <a:prstGeom prst="roundRect">
            <a:avLst>
              <a:gd name="adj" fmla="val 281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DD4D7200-3801-44CF-8047-8F115976AC18}"/>
              </a:ext>
            </a:extLst>
          </p:cNvPr>
          <p:cNvSpPr/>
          <p:nvPr/>
        </p:nvSpPr>
        <p:spPr>
          <a:xfrm>
            <a:off x="10972673" y="2302751"/>
            <a:ext cx="1120843" cy="723901"/>
          </a:xfrm>
          <a:prstGeom prst="roundRect">
            <a:avLst>
              <a:gd name="adj" fmla="val 281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7B7EC88-2061-45D3-9DB5-305642F3FA1D}"/>
              </a:ext>
            </a:extLst>
          </p:cNvPr>
          <p:cNvSpPr/>
          <p:nvPr/>
        </p:nvSpPr>
        <p:spPr>
          <a:xfrm>
            <a:off x="10892753" y="4688935"/>
            <a:ext cx="1120843" cy="422077"/>
          </a:xfrm>
          <a:prstGeom prst="roundRect">
            <a:avLst>
              <a:gd name="adj" fmla="val 28100"/>
            </a:avLst>
          </a:prstGeom>
          <a:solidFill>
            <a:srgbClr val="060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8A3E478-7D47-47F1-9A43-C577AAA2A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 pressure="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118095" y="9525"/>
            <a:ext cx="10010775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123F14F-8F57-4039-B96C-6C82A1C50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4363"/>
            <a:ext cx="12192000" cy="308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6E2F01-F8D3-4925-BA2E-10D65795A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877" y="549737"/>
            <a:ext cx="4489747" cy="4746164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F5C9D2DD-B6CA-44B7-91F8-52B498C9E0AD}"/>
              </a:ext>
            </a:extLst>
          </p:cNvPr>
          <p:cNvSpPr/>
          <p:nvPr/>
        </p:nvSpPr>
        <p:spPr>
          <a:xfrm>
            <a:off x="7590288" y="1263811"/>
            <a:ext cx="2816225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32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Технологии</a:t>
            </a:r>
            <a:endParaRPr lang="en-US" sz="2208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5D8C6DE-D556-41A3-81DB-1139013B3C98}"/>
              </a:ext>
            </a:extLst>
          </p:cNvPr>
          <p:cNvSpPr/>
          <p:nvPr/>
        </p:nvSpPr>
        <p:spPr>
          <a:xfrm>
            <a:off x="7452601" y="3206233"/>
            <a:ext cx="2816225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3200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Функциональность</a:t>
            </a:r>
            <a:endParaRPr lang="en-US" sz="2208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89B4F2-806B-4519-B03B-5FF1020354BC}"/>
              </a:ext>
            </a:extLst>
          </p:cNvPr>
          <p:cNvSpPr/>
          <p:nvPr/>
        </p:nvSpPr>
        <p:spPr>
          <a:xfrm>
            <a:off x="11176900" y="195546"/>
            <a:ext cx="848601" cy="2560354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4CDA1BF-39AF-4984-9B72-1242F99D44EA}"/>
              </a:ext>
            </a:extLst>
          </p:cNvPr>
          <p:cNvSpPr/>
          <p:nvPr/>
        </p:nvSpPr>
        <p:spPr>
          <a:xfrm>
            <a:off x="7647275" y="3747793"/>
            <a:ext cx="3462238" cy="109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Загрузка ZIP-архива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Подсветка по критичности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Детальные отчеты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F7E5289-44C9-47B3-8705-98319459A1FC}"/>
              </a:ext>
            </a:extLst>
          </p:cNvPr>
          <p:cNvSpPr/>
          <p:nvPr/>
        </p:nvSpPr>
        <p:spPr>
          <a:xfrm>
            <a:off x="7666632" y="1781284"/>
            <a:ext cx="3462238" cy="109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Фреймворк Flask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HTML/CSS с Jinja2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dirty="0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Интерактивный дашборд</a:t>
            </a:r>
            <a:endParaRPr lang="en-US" sz="1542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FCE13D5-0A23-4E63-A37E-33EC9CE4D489}"/>
              </a:ext>
            </a:extLst>
          </p:cNvPr>
          <p:cNvSpPr/>
          <p:nvPr/>
        </p:nvSpPr>
        <p:spPr>
          <a:xfrm>
            <a:off x="6604000" y="195546"/>
            <a:ext cx="848601" cy="7083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4163275-4ABF-4C25-B40F-3FBF0EDAE606}"/>
              </a:ext>
            </a:extLst>
          </p:cNvPr>
          <p:cNvSpPr/>
          <p:nvPr/>
        </p:nvSpPr>
        <p:spPr>
          <a:xfrm>
            <a:off x="1210734" y="87995"/>
            <a:ext cx="2197100" cy="411538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585C43-F104-4A97-BADA-2AAA77F3C6E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5110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65999756-CD34-4CC2-A810-25A2E8338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 trans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0" y="2821016"/>
            <a:ext cx="6640828" cy="421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A6AAF79-DBEC-405D-B3AB-BA00A7F45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5893" y="5933946"/>
            <a:ext cx="1635745" cy="924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94E1B8-7849-4B8D-BD89-03EE6EF3278A}"/>
              </a:ext>
            </a:extLst>
          </p:cNvPr>
          <p:cNvSpPr txBox="1"/>
          <p:nvPr/>
        </p:nvSpPr>
        <p:spPr>
          <a:xfrm>
            <a:off x="6175497" y="1492712"/>
            <a:ext cx="614989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3200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Шипилов</a:t>
            </a:r>
            <a:r>
              <a:rPr lang="ru-RU" sz="3200" b="1" i="0" u="none" strike="noStrike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Максим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en-US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tg</a:t>
            </a:r>
            <a:r>
              <a:rPr lang="en-US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kelchers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1800" b="0" i="0" u="none" strike="noStrike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телефон</a:t>
            </a:r>
            <a:r>
              <a:rPr lang="en-US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+7(915)-268-7000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1800" b="0" i="0" u="none" strike="noStrike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kelchersub@gmail.com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br>
              <a:rPr lang="ru-RU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B0581-283A-43DB-902C-E9A14610C882}"/>
              </a:ext>
            </a:extLst>
          </p:cNvPr>
          <p:cNvSpPr txBox="1"/>
          <p:nvPr/>
        </p:nvSpPr>
        <p:spPr>
          <a:xfrm>
            <a:off x="4474427" y="201837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</a:rPr>
              <a:t> 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320EF-3F1E-41C7-8F2C-20D527F42393}"/>
              </a:ext>
            </a:extLst>
          </p:cNvPr>
          <p:cNvSpPr txBox="1"/>
          <p:nvPr/>
        </p:nvSpPr>
        <p:spPr>
          <a:xfrm>
            <a:off x="2963437" y="3300090"/>
            <a:ext cx="61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</a:rPr>
              <a:t> </a:t>
            </a:r>
            <a:endParaRPr lang="ru-RU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1A286B2-A8FC-45DD-A5AC-21068F9CC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451402" y="4081631"/>
            <a:ext cx="6640828" cy="421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Блок-схема: узел 13">
            <a:extLst>
              <a:ext uri="{FF2B5EF4-FFF2-40B4-BE49-F238E27FC236}">
                <a16:creationId xmlns:a16="http://schemas.microsoft.com/office/drawing/2014/main" id="{F4C9DEEC-54A5-4178-9E12-8D69B8D88F42}"/>
              </a:ext>
            </a:extLst>
          </p:cNvPr>
          <p:cNvSpPr/>
          <p:nvPr/>
        </p:nvSpPr>
        <p:spPr>
          <a:xfrm>
            <a:off x="3659226" y="1799923"/>
            <a:ext cx="2281707" cy="2281707"/>
          </a:xfrm>
          <a:prstGeom prst="flowChartConnector">
            <a:avLst/>
          </a:prstGeom>
          <a:blipFill>
            <a:blip r:embed="rId6"/>
            <a:stretch>
              <a:fillRect r="11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12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65999756-CD34-4CC2-A810-25A2E8338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 trans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0" y="2821016"/>
            <a:ext cx="6640828" cy="421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A6AAF79-DBEC-405D-B3AB-BA00A7F45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5893" y="5933946"/>
            <a:ext cx="1635745" cy="924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94E1B8-7849-4B8D-BD89-03EE6EF3278A}"/>
              </a:ext>
            </a:extLst>
          </p:cNvPr>
          <p:cNvSpPr txBox="1"/>
          <p:nvPr/>
        </p:nvSpPr>
        <p:spPr>
          <a:xfrm>
            <a:off x="6042104" y="1417388"/>
            <a:ext cx="614989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3200" b="1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Заценко</a:t>
            </a:r>
            <a:r>
              <a:rPr lang="ru-RU" sz="3200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Захар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en-US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tg</a:t>
            </a:r>
            <a:r>
              <a:rPr lang="en-US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aenty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1800" b="0" i="0" u="none" strike="noStrike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телефон</a:t>
            </a:r>
            <a:r>
              <a:rPr lang="en-US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+7(985)966-24-92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1800" b="0" i="0" u="none" strike="noStrike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zahar.programmer@gmail.com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br>
              <a:rPr lang="ru-RU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B0581-283A-43DB-902C-E9A14610C882}"/>
              </a:ext>
            </a:extLst>
          </p:cNvPr>
          <p:cNvSpPr txBox="1"/>
          <p:nvPr/>
        </p:nvSpPr>
        <p:spPr>
          <a:xfrm>
            <a:off x="4474427" y="201837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</a:rPr>
              <a:t> 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320EF-3F1E-41C7-8F2C-20D527F42393}"/>
              </a:ext>
            </a:extLst>
          </p:cNvPr>
          <p:cNvSpPr txBox="1"/>
          <p:nvPr/>
        </p:nvSpPr>
        <p:spPr>
          <a:xfrm>
            <a:off x="2963437" y="3300090"/>
            <a:ext cx="61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</a:rPr>
              <a:t> </a:t>
            </a:r>
            <a:endParaRPr lang="ru-RU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1A286B2-A8FC-45DD-A5AC-21068F9CC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451402" y="4081631"/>
            <a:ext cx="6640828" cy="421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Блок-схема: узел 10">
            <a:extLst>
              <a:ext uri="{FF2B5EF4-FFF2-40B4-BE49-F238E27FC236}">
                <a16:creationId xmlns:a16="http://schemas.microsoft.com/office/drawing/2014/main" id="{E26E3DEB-2D0E-4C5F-ABC6-E15D44E95815}"/>
              </a:ext>
            </a:extLst>
          </p:cNvPr>
          <p:cNvSpPr/>
          <p:nvPr/>
        </p:nvSpPr>
        <p:spPr>
          <a:xfrm>
            <a:off x="3659226" y="1799923"/>
            <a:ext cx="2281707" cy="2281707"/>
          </a:xfrm>
          <a:prstGeom prst="flowChartConnector">
            <a:avLst/>
          </a:prstGeom>
          <a:blipFill>
            <a:blip r:embed="rId6"/>
            <a:stretch>
              <a:fillRect r="11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56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65999756-CD34-4CC2-A810-25A2E8338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 trans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0" y="2821016"/>
            <a:ext cx="6640828" cy="421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A6AAF79-DBEC-405D-B3AB-BA00A7F45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5893" y="5933946"/>
            <a:ext cx="1635745" cy="924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94E1B8-7849-4B8D-BD89-03EE6EF3278A}"/>
              </a:ext>
            </a:extLst>
          </p:cNvPr>
          <p:cNvSpPr txBox="1"/>
          <p:nvPr/>
        </p:nvSpPr>
        <p:spPr>
          <a:xfrm>
            <a:off x="6175497" y="1492712"/>
            <a:ext cx="614989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3200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Айвазян</a:t>
            </a:r>
            <a:r>
              <a:rPr lang="ru-RU" sz="3200" b="1" i="0" u="none" strike="noStrike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Лёва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en-US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tg</a:t>
            </a:r>
            <a:r>
              <a:rPr lang="en-US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1800" b="0" i="0" u="none" strike="noStrike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телефон</a:t>
            </a:r>
            <a:r>
              <a:rPr lang="en-US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+7 900 290 48 70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1800" b="0" i="0" u="none" strike="noStrike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levvaaivazian@yandex.ru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br>
              <a:rPr lang="ru-RU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B0581-283A-43DB-902C-E9A14610C882}"/>
              </a:ext>
            </a:extLst>
          </p:cNvPr>
          <p:cNvSpPr txBox="1"/>
          <p:nvPr/>
        </p:nvSpPr>
        <p:spPr>
          <a:xfrm>
            <a:off x="3567602" y="201492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</a:rPr>
              <a:t> 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320EF-3F1E-41C7-8F2C-20D527F42393}"/>
              </a:ext>
            </a:extLst>
          </p:cNvPr>
          <p:cNvSpPr txBox="1"/>
          <p:nvPr/>
        </p:nvSpPr>
        <p:spPr>
          <a:xfrm>
            <a:off x="2963437" y="3300090"/>
            <a:ext cx="61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</a:rPr>
              <a:t> </a:t>
            </a:r>
            <a:endParaRPr lang="ru-RU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1A286B2-A8FC-45DD-A5AC-21068F9CC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451402" y="4081631"/>
            <a:ext cx="6640828" cy="421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Блок-схема: узел 11">
            <a:extLst>
              <a:ext uri="{FF2B5EF4-FFF2-40B4-BE49-F238E27FC236}">
                <a16:creationId xmlns:a16="http://schemas.microsoft.com/office/drawing/2014/main" id="{FA1272C9-E121-488A-A0FE-1386C6F9464F}"/>
              </a:ext>
            </a:extLst>
          </p:cNvPr>
          <p:cNvSpPr/>
          <p:nvPr/>
        </p:nvSpPr>
        <p:spPr>
          <a:xfrm>
            <a:off x="3659226" y="1799923"/>
            <a:ext cx="2281707" cy="2281707"/>
          </a:xfrm>
          <a:prstGeom prst="flowChartConnector">
            <a:avLst/>
          </a:prstGeom>
          <a:blipFill>
            <a:blip r:embed="rId6"/>
            <a:stretch>
              <a:fillRect r="11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261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65999756-CD34-4CC2-A810-25A2E8338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 trans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0" y="2821016"/>
            <a:ext cx="6640828" cy="421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A6AAF79-DBEC-405D-B3AB-BA00A7F45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5893" y="5933946"/>
            <a:ext cx="1635745" cy="924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94E1B8-7849-4B8D-BD89-03EE6EF3278A}"/>
              </a:ext>
            </a:extLst>
          </p:cNvPr>
          <p:cNvSpPr txBox="1"/>
          <p:nvPr/>
        </p:nvSpPr>
        <p:spPr>
          <a:xfrm>
            <a:off x="6175497" y="1492712"/>
            <a:ext cx="614989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3200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Степанов Даниил 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en-US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tg</a:t>
            </a:r>
            <a:r>
              <a:rPr lang="en-US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strongcoder8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1800" b="0" i="0" u="none" strike="noStrike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телефон</a:t>
            </a:r>
            <a:r>
              <a:rPr lang="en-US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+7 905 353 74 36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lang="ru-RU" sz="1800" b="0" i="0" u="none" strike="noStrike" dirty="0" err="1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strongcoder@gmail.com</a:t>
            </a:r>
            <a:endParaRPr lang="ru-RU" b="0" dirty="0">
              <a:solidFill>
                <a:schemeClr val="bg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br>
              <a:rPr lang="ru-RU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B0581-283A-43DB-902C-E9A14610C882}"/>
              </a:ext>
            </a:extLst>
          </p:cNvPr>
          <p:cNvSpPr txBox="1"/>
          <p:nvPr/>
        </p:nvSpPr>
        <p:spPr>
          <a:xfrm>
            <a:off x="4474427" y="201837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</a:rPr>
              <a:t> 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320EF-3F1E-41C7-8F2C-20D527F42393}"/>
              </a:ext>
            </a:extLst>
          </p:cNvPr>
          <p:cNvSpPr txBox="1"/>
          <p:nvPr/>
        </p:nvSpPr>
        <p:spPr>
          <a:xfrm>
            <a:off x="2963437" y="3300090"/>
            <a:ext cx="61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</a:rPr>
              <a:t> </a:t>
            </a:r>
            <a:endParaRPr lang="ru-RU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1A286B2-A8FC-45DD-A5AC-21068F9CC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451402" y="4081631"/>
            <a:ext cx="6640828" cy="421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Блок-схема: узел 11">
            <a:extLst>
              <a:ext uri="{FF2B5EF4-FFF2-40B4-BE49-F238E27FC236}">
                <a16:creationId xmlns:a16="http://schemas.microsoft.com/office/drawing/2014/main" id="{E53253EE-4FE3-453A-BB24-19E61EBD4892}"/>
              </a:ext>
            </a:extLst>
          </p:cNvPr>
          <p:cNvSpPr/>
          <p:nvPr/>
        </p:nvSpPr>
        <p:spPr>
          <a:xfrm>
            <a:off x="3659226" y="1799923"/>
            <a:ext cx="2281707" cy="2281707"/>
          </a:xfrm>
          <a:prstGeom prst="flowChartConnector">
            <a:avLst/>
          </a:prstGeom>
          <a:blipFill>
            <a:blip r:embed="rId6"/>
            <a:stretch>
              <a:fillRect r="11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5969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379</Words>
  <Application>Microsoft Office PowerPoint</Application>
  <PresentationFormat>Широкоэкранный</PresentationFormat>
  <Paragraphs>85</Paragraphs>
  <Slides>15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Hack</vt:lpstr>
      <vt:lpstr>Nunito Semi Bold</vt:lpstr>
      <vt:lpstr>PT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Max Shipilov</dc:creator>
  <cp:lastModifiedBy>Admin</cp:lastModifiedBy>
  <cp:revision>28</cp:revision>
  <dcterms:created xsi:type="dcterms:W3CDTF">2026-03-05T19:00:44Z</dcterms:created>
  <dcterms:modified xsi:type="dcterms:W3CDTF">2026-03-07T08:50:01Z</dcterms:modified>
</cp:coreProperties>
</file>